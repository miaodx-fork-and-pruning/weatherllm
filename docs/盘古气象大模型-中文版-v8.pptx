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</p:sldMasterIdLst>
  <p:notesMasterIdLst>
    <p:notesMasterId r:id="rId46"/>
  </p:notesMasterIdLst>
  <p:handoutMasterIdLst>
    <p:handoutMasterId r:id="rId47"/>
  </p:handoutMasterIdLst>
  <p:sldIdLst>
    <p:sldId id="316" r:id="rId4"/>
    <p:sldId id="457" r:id="rId5"/>
    <p:sldId id="612" r:id="rId6"/>
    <p:sldId id="576" r:id="rId7"/>
    <p:sldId id="608" r:id="rId8"/>
    <p:sldId id="609" r:id="rId9"/>
    <p:sldId id="610" r:id="rId10"/>
    <p:sldId id="611" r:id="rId11"/>
    <p:sldId id="558" r:id="rId12"/>
    <p:sldId id="598" r:id="rId13"/>
    <p:sldId id="599" r:id="rId14"/>
    <p:sldId id="600" r:id="rId15"/>
    <p:sldId id="561" r:id="rId16"/>
    <p:sldId id="552" r:id="rId17"/>
    <p:sldId id="601" r:id="rId18"/>
    <p:sldId id="560" r:id="rId19"/>
    <p:sldId id="578" r:id="rId20"/>
    <p:sldId id="562" r:id="rId21"/>
    <p:sldId id="563" r:id="rId22"/>
    <p:sldId id="566" r:id="rId23"/>
    <p:sldId id="564" r:id="rId24"/>
    <p:sldId id="584" r:id="rId25"/>
    <p:sldId id="585" r:id="rId26"/>
    <p:sldId id="602" r:id="rId27"/>
    <p:sldId id="603" r:id="rId28"/>
    <p:sldId id="604" r:id="rId29"/>
    <p:sldId id="605" r:id="rId30"/>
    <p:sldId id="570" r:id="rId31"/>
    <p:sldId id="594" r:id="rId32"/>
    <p:sldId id="590" r:id="rId33"/>
    <p:sldId id="592" r:id="rId34"/>
    <p:sldId id="580" r:id="rId35"/>
    <p:sldId id="572" r:id="rId36"/>
    <p:sldId id="573" r:id="rId37"/>
    <p:sldId id="581" r:id="rId38"/>
    <p:sldId id="574" r:id="rId39"/>
    <p:sldId id="553" r:id="rId40"/>
    <p:sldId id="596" r:id="rId41"/>
    <p:sldId id="595" r:id="rId42"/>
    <p:sldId id="613" r:id="rId43"/>
    <p:sldId id="607" r:id="rId44"/>
    <p:sldId id="455" r:id="rId45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D9D9D9"/>
    <a:srgbClr val="000000"/>
    <a:srgbClr val="C70028"/>
    <a:srgbClr val="C7000B"/>
    <a:srgbClr val="F3D2D5"/>
    <a:srgbClr val="E57984"/>
    <a:srgbClr val="DD4654"/>
    <a:srgbClr val="EB5C01"/>
    <a:srgbClr val="EA5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53" autoAdjust="0"/>
    <p:restoredTop sz="79899" autoAdjust="0"/>
  </p:normalViewPr>
  <p:slideViewPr>
    <p:cSldViewPr snapToGrid="0" snapToObjects="1">
      <p:cViewPr varScale="1">
        <p:scale>
          <a:sx n="93" d="100"/>
          <a:sy n="93" d="100"/>
        </p:scale>
        <p:origin x="108" y="7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10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16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30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99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83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90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2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53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69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97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42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49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84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279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11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57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05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826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13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900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3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250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413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68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47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355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091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115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81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259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345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731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922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643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110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546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803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124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32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581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820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46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09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24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78901" y="896536"/>
            <a:ext cx="10362979" cy="0"/>
          </a:xfrm>
          <a:prstGeom prst="line">
            <a:avLst/>
          </a:prstGeom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gif"/><Relationship Id="rId5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fif"/><Relationship Id="rId7" Type="http://schemas.openxmlformats.org/officeDocument/2006/relationships/image" Target="../media/image12.jf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fif"/><Relationship Id="rId5" Type="http://schemas.openxmlformats.org/officeDocument/2006/relationships/image" Target="../media/image10.jfif"/><Relationship Id="rId4" Type="http://schemas.openxmlformats.org/officeDocument/2006/relationships/image" Target="../media/image9.jfif"/><Relationship Id="rId9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98808xc/Pangu-Weather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98808xc/Pangu-Weather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hyperlink" Target="https://github.com/ecmwf-lab/ai-models-panguweather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harts.ecmwf.int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hyperlink" Target="https://charts.ecmwf.int/?query=PANGU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98808xc/Pangu-Weather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 txBox="1">
            <a:spLocks/>
          </p:cNvSpPr>
          <p:nvPr/>
        </p:nvSpPr>
        <p:spPr>
          <a:xfrm>
            <a:off x="680334" y="5591440"/>
            <a:ext cx="6535842" cy="1268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CN" altLang="en-US" sz="2400" b="1" dirty="0">
                <a:latin typeface="+mj-ea"/>
                <a:ea typeface="+mj-ea"/>
              </a:rPr>
              <a:t>汇报人：谢凌曦</a:t>
            </a:r>
            <a:endParaRPr lang="en-US" altLang="zh-CN" sz="2400" i="1" dirty="0">
              <a:latin typeface="+mj-ea"/>
              <a:ea typeface="+mj-ea"/>
            </a:endParaRPr>
          </a:p>
          <a:p>
            <a:r>
              <a:rPr lang="en-US" altLang="zh-CN" sz="2000" dirty="0">
                <a:latin typeface="+mj-ea"/>
                <a:ea typeface="+mj-ea"/>
              </a:rPr>
              <a:t>2023</a:t>
            </a:r>
            <a:r>
              <a:rPr lang="zh-CN" altLang="en-US" sz="2000" dirty="0">
                <a:latin typeface="+mj-ea"/>
                <a:ea typeface="+mj-ea"/>
              </a:rPr>
              <a:t>年</a:t>
            </a:r>
            <a:r>
              <a:rPr lang="en-US" altLang="zh-CN" sz="2000" dirty="0">
                <a:latin typeface="+mj-ea"/>
                <a:ea typeface="+mj-ea"/>
              </a:rPr>
              <a:t>11</a:t>
            </a:r>
            <a:r>
              <a:rPr lang="zh-CN" altLang="en-US" sz="2000" dirty="0">
                <a:latin typeface="+mj-ea"/>
                <a:ea typeface="+mj-ea"/>
              </a:rPr>
              <a:t>月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7" name="标题 8"/>
          <p:cNvSpPr txBox="1">
            <a:spLocks/>
          </p:cNvSpPr>
          <p:nvPr/>
        </p:nvSpPr>
        <p:spPr>
          <a:xfrm>
            <a:off x="149087" y="1227726"/>
            <a:ext cx="9674181" cy="32242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Book Antiqua" panose="02040602050305030304" pitchFamily="18" charset="0"/>
              </a:rPr>
              <a:t>盘古气象大模型</a:t>
            </a:r>
            <a:endParaRPr lang="en-US" altLang="zh-CN" sz="3600" b="1" dirty="0">
              <a:solidFill>
                <a:srgbClr val="0070C0"/>
              </a:solidFill>
              <a:latin typeface="Book Antiqua" panose="02040602050305030304" pitchFamily="18" charset="0"/>
            </a:endParaRP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Book Antiqua" panose="02040602050305030304" pitchFamily="18" charset="0"/>
              </a:rPr>
              <a:t>基于</a:t>
            </a:r>
            <a:r>
              <a:rPr lang="en-US" altLang="zh-CN" dirty="0">
                <a:latin typeface="Book Antiqua" panose="02040602050305030304" pitchFamily="18" charset="0"/>
              </a:rPr>
              <a:t>3D</a:t>
            </a:r>
            <a:r>
              <a:rPr lang="zh-CN" altLang="en-US" dirty="0">
                <a:latin typeface="Book Antiqua" panose="02040602050305030304" pitchFamily="18" charset="0"/>
              </a:rPr>
              <a:t>深度神经网络的</a:t>
            </a:r>
            <a:endParaRPr lang="en-US" altLang="zh-CN" dirty="0">
              <a:latin typeface="Book Antiqua" panose="02040602050305030304" pitchFamily="18" charset="0"/>
            </a:endParaRPr>
          </a:p>
          <a:p>
            <a:pPr marL="360000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Book Antiqua" panose="02040602050305030304" pitchFamily="18" charset="0"/>
              </a:rPr>
              <a:t>全球高分辨率中长期气象预报</a:t>
            </a:r>
            <a:endParaRPr lang="en-US" altLang="zh-C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14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汇报提纲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研究背景：为什么要用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做数值气象预报？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盘古气象大模型：基于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神经网络的气象预报系统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确定性气象预报、集成气象预报、极端气象预报结果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未来展望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4A83DCC-7D52-4238-9062-DE6E078C783F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E007C54D-BD50-4093-874C-9E4FB91D0ED9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051912B1-FC63-46A7-9D7E-9F8DFD88D5B5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A71D4A5C-DDDF-46E6-A823-8933EF23A162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8" name="燕尾形 5">
              <a:extLst>
                <a:ext uri="{FF2B5EF4-FFF2-40B4-BE49-F238E27FC236}">
                  <a16:creationId xmlns:a16="http://schemas.microsoft.com/office/drawing/2014/main" id="{F2F918AC-156D-4C76-BB44-E7CF11D7EA54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40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数值气象预报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8000" y="1080000"/>
                <a:ext cx="11232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任务定义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给定当前时刻的气象变量，预测未来特定时刻（如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天后）的气象变量值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数学上看，这个任务可以建模为学习一个函数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，它接收当前的气象变量作为输入，产生未来的气象变量作为输出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数值气象预报的两条主要研究路线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基于物理仿真的方法（传统数值方法）：利用一个偏微分方程系统来近似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的行为</a:t>
                </a:r>
                <a:r>
                  <a:rPr lang="en-US" altLang="zh-CN" sz="2400" baseline="300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[A,B]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基于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AI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的方法：利用深度神经网络来近似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的行为</a:t>
                </a:r>
                <a:r>
                  <a:rPr lang="en-US" altLang="zh-CN" sz="2400" baseline="300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[C,D]</a:t>
                </a:r>
                <a:endParaRPr lang="en-US" altLang="zh-CN" sz="2400" i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11232000" cy="5184000"/>
              </a:xfrm>
              <a:prstGeom prst="rect">
                <a:avLst/>
              </a:prstGeom>
              <a:blipFill>
                <a:blip r:embed="rId3"/>
                <a:stretch>
                  <a:fillRect l="-1792" t="-2233" r="-11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5841E9F0-B8B7-48B5-A9CC-5CDF04C4CACF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E. Kalnay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Atmospheric Modeling, Data Assimilation and Predictability,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Cambridge University Press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2003.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[B]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P. Bauer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The Quiet Revolution of Numerical Weather Prediction,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2015.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[C]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J. Pathak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FourCastNet: A Global Data-driven High-resolution Weather Model Using Adaptive Fourier Neural Operators,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arXiv preprint:2202.11214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2022.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[D]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K. Bi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Pangu-Weather: A 3D High-Resolution Model for Fast and Accurate Global Weather Forecast,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arXiv preprint:2211.02556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2022.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A88FFC-EB70-447D-8CC9-00EF8E27D4BA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6" name="燕尾形 3">
              <a:extLst>
                <a:ext uri="{FF2B5EF4-FFF2-40B4-BE49-F238E27FC236}">
                  <a16:creationId xmlns:a16="http://schemas.microsoft.com/office/drawing/2014/main" id="{DEE07E19-43D9-4B4E-A3B0-E70D5171DB31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8" name="燕尾形 4">
              <a:extLst>
                <a:ext uri="{FF2B5EF4-FFF2-40B4-BE49-F238E27FC236}">
                  <a16:creationId xmlns:a16="http://schemas.microsoft.com/office/drawing/2014/main" id="{452F3689-A640-4CE8-82EC-67BDCA1CB4B9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FD73329B-0331-4855-BA57-880EDC649321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AE889EE2-F06C-4D38-ADDD-736974EC3EE3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098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03F8BE58-1EE6-467A-8ACB-75CDC8678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080000"/>
            <a:ext cx="4320000" cy="22313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A2C512F-1EA9-4BC0-83C8-AD81E0A35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080000"/>
            <a:ext cx="4320000" cy="22313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0637F54C-3136-479B-BDFC-DA13336845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72000"/>
            <a:ext cx="4320000" cy="22313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74F32FB3-A38E-4B08-A080-D7890185A8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3672000"/>
            <a:ext cx="4320000" cy="22313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在再分析数据上进行数值气象预报的例子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930FC71-6D31-42AF-8A17-91E3686529F5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6" name="燕尾形 3">
              <a:extLst>
                <a:ext uri="{FF2B5EF4-FFF2-40B4-BE49-F238E27FC236}">
                  <a16:creationId xmlns:a16="http://schemas.microsoft.com/office/drawing/2014/main" id="{B816B918-6D75-4E11-8BA8-1CEF826A5284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8" name="燕尾形 4">
              <a:extLst>
                <a:ext uri="{FF2B5EF4-FFF2-40B4-BE49-F238E27FC236}">
                  <a16:creationId xmlns:a16="http://schemas.microsoft.com/office/drawing/2014/main" id="{84D80CD5-7AA1-47E2-9AFA-A720E73A6375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A94B3BE1-43EB-4BF1-AAE7-99807EAFD1CF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DE2B1BF4-DC96-44B4-A22A-347FD6241B99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407B61F-A369-44AA-84C7-6028C269B520}"/>
              </a:ext>
            </a:extLst>
          </p:cNvPr>
          <p:cNvSpPr/>
          <p:nvPr/>
        </p:nvSpPr>
        <p:spPr>
          <a:xfrm>
            <a:off x="5220000" y="1728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数值气象</a:t>
            </a:r>
            <a:endParaRPr lang="en-US" altLang="zh-CN" sz="2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预报算法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04B6A71-4613-477C-9C97-5BD1F28CE82E}"/>
              </a:ext>
            </a:extLst>
          </p:cNvPr>
          <p:cNvCxnSpPr>
            <a:cxnSpLocks/>
            <a:stCxn id="50" idx="3"/>
            <a:endCxn id="31" idx="1"/>
          </p:cNvCxnSpPr>
          <p:nvPr/>
        </p:nvCxnSpPr>
        <p:spPr>
          <a:xfrm>
            <a:off x="4680000" y="2195651"/>
            <a:ext cx="540000" cy="349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F382C4C-85FD-42EE-836E-47BDC2A1D6A4}"/>
              </a:ext>
            </a:extLst>
          </p:cNvPr>
          <p:cNvCxnSpPr>
            <a:cxnSpLocks/>
            <a:stCxn id="31" idx="3"/>
            <a:endCxn id="52" idx="1"/>
          </p:cNvCxnSpPr>
          <p:nvPr/>
        </p:nvCxnSpPr>
        <p:spPr>
          <a:xfrm flipV="1">
            <a:off x="7020000" y="2195651"/>
            <a:ext cx="540000" cy="349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0348C65-742C-4C1F-9BB2-39A88C060650}"/>
              </a:ext>
            </a:extLst>
          </p:cNvPr>
          <p:cNvSpPr/>
          <p:nvPr/>
        </p:nvSpPr>
        <p:spPr>
          <a:xfrm>
            <a:off x="5220000" y="4320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数值气象</a:t>
            </a:r>
            <a:endParaRPr lang="en-US" altLang="zh-CN" sz="2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预报算法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D8F35A8-62D8-457B-B0E7-27765E26D5A9}"/>
              </a:ext>
            </a:extLst>
          </p:cNvPr>
          <p:cNvCxnSpPr>
            <a:cxnSpLocks/>
            <a:stCxn id="54" idx="3"/>
            <a:endCxn id="38" idx="1"/>
          </p:cNvCxnSpPr>
          <p:nvPr/>
        </p:nvCxnSpPr>
        <p:spPr>
          <a:xfrm>
            <a:off x="4680000" y="4787651"/>
            <a:ext cx="540000" cy="349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4C5A688-FD64-4684-B4CA-C91D60A16EBF}"/>
              </a:ext>
            </a:extLst>
          </p:cNvPr>
          <p:cNvCxnSpPr>
            <a:cxnSpLocks/>
            <a:stCxn id="38" idx="3"/>
            <a:endCxn id="56" idx="1"/>
          </p:cNvCxnSpPr>
          <p:nvPr/>
        </p:nvCxnSpPr>
        <p:spPr>
          <a:xfrm flipV="1">
            <a:off x="7020000" y="4787651"/>
            <a:ext cx="540000" cy="349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D52ACA09-2AA0-4261-AB4C-8D3EC5690C33}"/>
              </a:ext>
            </a:extLst>
          </p:cNvPr>
          <p:cNvSpPr/>
          <p:nvPr/>
        </p:nvSpPr>
        <p:spPr>
          <a:xfrm>
            <a:off x="360000" y="3312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输入：地表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米气温（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T2M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）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25C6214-1EA6-49AA-9BA1-7BDFEF49595D}"/>
              </a:ext>
            </a:extLst>
          </p:cNvPr>
          <p:cNvSpPr/>
          <p:nvPr/>
        </p:nvSpPr>
        <p:spPr>
          <a:xfrm>
            <a:off x="7560000" y="3312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未来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天的真实值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AFAA29B-FE07-4E93-8423-65E9C2DC7199}"/>
              </a:ext>
            </a:extLst>
          </p:cNvPr>
          <p:cNvSpPr/>
          <p:nvPr/>
        </p:nvSpPr>
        <p:spPr>
          <a:xfrm>
            <a:off x="360000" y="5904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输入：地表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米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U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风速（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U10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）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0FC041-43A7-4AE0-926F-945FCB32964F}"/>
              </a:ext>
            </a:extLst>
          </p:cNvPr>
          <p:cNvSpPr/>
          <p:nvPr/>
        </p:nvSpPr>
        <p:spPr>
          <a:xfrm>
            <a:off x="7560000" y="5904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未来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天的真实值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3A7792C-783E-4304-9B3A-EEBA7C309143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Credit: all data are from the 5</a:t>
            </a:r>
            <a:r>
              <a:rPr lang="en-US" altLang="zh-CN" sz="1600" baseline="300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th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generation of the ECMWF reanalysis (ERA5) data</a:t>
            </a:r>
            <a:r>
              <a:rPr lang="en-US" altLang="zh-CN" sz="1600" baseline="300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H. Hersbach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The ERA5 Global Analysis,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Quarterly Journal of the Royal Meteorological Society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2020.</a:t>
            </a:r>
          </a:p>
        </p:txBody>
      </p:sp>
    </p:spTree>
    <p:extLst>
      <p:ext uri="{BB962C8B-B14F-4D97-AF65-F5344CB8AC3E}">
        <p14:creationId xmlns:p14="http://schemas.microsoft.com/office/powerpoint/2010/main" val="125640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人工智能简介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人工智能（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）是研究如何使用数学方法复现人类智能的学科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已经深刻地改变了人类的工作方式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擅长解决的问题：发现输入变量和输出变量之间的关系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5433D3A-66F1-432E-A9E1-EB693C123560}"/>
              </a:ext>
            </a:extLst>
          </p:cNvPr>
          <p:cNvGrpSpPr/>
          <p:nvPr/>
        </p:nvGrpSpPr>
        <p:grpSpPr>
          <a:xfrm>
            <a:off x="108000" y="2592000"/>
            <a:ext cx="11952000" cy="4104000"/>
            <a:chOff x="108000" y="2520000"/>
            <a:chExt cx="11952000" cy="41040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545631C-84BA-4987-9AED-C59C54C37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3" r="12732"/>
            <a:stretch/>
          </p:blipFill>
          <p:spPr>
            <a:xfrm>
              <a:off x="108000" y="2520000"/>
              <a:ext cx="2880000" cy="172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42276DD-8E9F-476F-8131-34D4D47C63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18"/>
            <a:stretch/>
          </p:blipFill>
          <p:spPr>
            <a:xfrm>
              <a:off x="1620000" y="4608000"/>
              <a:ext cx="2880000" cy="172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CED9099-96F7-4E67-A44C-0A69C670D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2000" y="2520000"/>
              <a:ext cx="2880001" cy="172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4490F38-5617-4C55-A57B-B4A6E67117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79" r="21876"/>
            <a:stretch/>
          </p:blipFill>
          <p:spPr>
            <a:xfrm>
              <a:off x="4644000" y="4608000"/>
              <a:ext cx="2880000" cy="172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2B79EA3-9B64-40D8-BDC8-1306DB75E8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9" r="4512"/>
            <a:stretch/>
          </p:blipFill>
          <p:spPr>
            <a:xfrm>
              <a:off x="9180000" y="2520000"/>
              <a:ext cx="2880000" cy="172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C785AE7-D2E7-4952-8BDC-7697949901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250"/>
            <a:stretch/>
          </p:blipFill>
          <p:spPr>
            <a:xfrm>
              <a:off x="7668000" y="4608000"/>
              <a:ext cx="2880000" cy="172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FA25974-C3EC-4B6B-8F38-71F99859C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6000" y="2520000"/>
              <a:ext cx="2880000" cy="172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3852375-CD81-41EF-9DD0-528DE2ED343D}"/>
                </a:ext>
              </a:extLst>
            </p:cNvPr>
            <p:cNvSpPr/>
            <p:nvPr/>
          </p:nvSpPr>
          <p:spPr>
            <a:xfrm>
              <a:off x="108000" y="4248000"/>
              <a:ext cx="2880000" cy="28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lvl="0" algn="ctr"/>
              <a:r>
                <a:rPr lang="zh-CN" altLang="en-US" dirty="0">
                  <a:solidFill>
                    <a:schemeClr val="tx1"/>
                  </a:solidFill>
                  <a:latin typeface="Georgia" panose="02040502050405020303" pitchFamily="18" charset="0"/>
                  <a:ea typeface="Gadugi" panose="020B0502040204020203" pitchFamily="34" charset="0"/>
                </a:rPr>
                <a:t>分拣系统</a:t>
              </a:r>
              <a:endPara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B92FD9C-04C7-4B26-BE61-D435EFFFA6D8}"/>
                </a:ext>
              </a:extLst>
            </p:cNvPr>
            <p:cNvSpPr/>
            <p:nvPr/>
          </p:nvSpPr>
          <p:spPr>
            <a:xfrm>
              <a:off x="3132000" y="4248000"/>
              <a:ext cx="2880000" cy="28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lvl="0" algn="ctr"/>
              <a:r>
                <a:rPr lang="zh-CN" altLang="en-US" dirty="0">
                  <a:solidFill>
                    <a:schemeClr val="tx1"/>
                  </a:solidFill>
                  <a:latin typeface="Georgia" panose="02040502050405020303" pitchFamily="18" charset="0"/>
                  <a:ea typeface="Gadugi" panose="020B0502040204020203" pitchFamily="34" charset="0"/>
                </a:rPr>
                <a:t>客服系统</a:t>
              </a:r>
              <a:endPara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24EEB23-8A60-4246-9BCC-ED3DAF8A3166}"/>
                </a:ext>
              </a:extLst>
            </p:cNvPr>
            <p:cNvSpPr/>
            <p:nvPr/>
          </p:nvSpPr>
          <p:spPr>
            <a:xfrm>
              <a:off x="6156000" y="4248000"/>
              <a:ext cx="2880000" cy="28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lvl="0" algn="ctr"/>
              <a:r>
                <a:rPr lang="zh-CN" altLang="en-US" dirty="0">
                  <a:solidFill>
                    <a:schemeClr val="tx1"/>
                  </a:solidFill>
                  <a:latin typeface="Georgia" panose="02040502050405020303" pitchFamily="18" charset="0"/>
                  <a:ea typeface="Gadugi" panose="020B0502040204020203" pitchFamily="34" charset="0"/>
                </a:rPr>
                <a:t>数值气象预报</a:t>
              </a:r>
              <a:endPara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0C32A47-0728-481B-9BEA-D7ECA2886B13}"/>
                </a:ext>
              </a:extLst>
            </p:cNvPr>
            <p:cNvSpPr/>
            <p:nvPr/>
          </p:nvSpPr>
          <p:spPr>
            <a:xfrm>
              <a:off x="9180000" y="4248000"/>
              <a:ext cx="2880000" cy="28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lvl="0" algn="ctr"/>
              <a:r>
                <a:rPr lang="zh-CN" altLang="en-US" dirty="0">
                  <a:solidFill>
                    <a:schemeClr val="tx1"/>
                  </a:solidFill>
                  <a:latin typeface="Georgia" panose="02040502050405020303" pitchFamily="18" charset="0"/>
                  <a:ea typeface="Gadugi" panose="020B0502040204020203" pitchFamily="34" charset="0"/>
                </a:rPr>
                <a:t>棋类博弈</a:t>
              </a:r>
              <a:endPara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DEACB17-C005-40C1-9EE3-CB28D90B4CF5}"/>
                </a:ext>
              </a:extLst>
            </p:cNvPr>
            <p:cNvSpPr/>
            <p:nvPr/>
          </p:nvSpPr>
          <p:spPr>
            <a:xfrm>
              <a:off x="1620000" y="6336000"/>
              <a:ext cx="2880000" cy="28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lvl="0" algn="ctr"/>
              <a:r>
                <a:rPr lang="zh-CN" altLang="en-US" dirty="0">
                  <a:solidFill>
                    <a:schemeClr val="tx1"/>
                  </a:solidFill>
                  <a:latin typeface="Georgia" panose="02040502050405020303" pitchFamily="18" charset="0"/>
                  <a:ea typeface="Gadugi" panose="020B0502040204020203" pitchFamily="34" charset="0"/>
                </a:rPr>
                <a:t>安全监控</a:t>
              </a:r>
              <a:endPara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D8FE085-2DE7-4926-B30D-4F5A7D19B1F4}"/>
                </a:ext>
              </a:extLst>
            </p:cNvPr>
            <p:cNvSpPr/>
            <p:nvPr/>
          </p:nvSpPr>
          <p:spPr>
            <a:xfrm>
              <a:off x="4644000" y="6336000"/>
              <a:ext cx="2880000" cy="28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lvl="0" algn="ctr"/>
              <a:r>
                <a:rPr lang="zh-CN" altLang="en-US" dirty="0">
                  <a:solidFill>
                    <a:schemeClr val="tx1"/>
                  </a:solidFill>
                  <a:latin typeface="Georgia" panose="02040502050405020303" pitchFamily="18" charset="0"/>
                  <a:ea typeface="Gadugi" panose="020B0502040204020203" pitchFamily="34" charset="0"/>
                </a:rPr>
                <a:t>医学诊断</a:t>
              </a:r>
              <a:endPara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E985047-FDBD-4237-8E8A-D7B2DBCF58AD}"/>
                </a:ext>
              </a:extLst>
            </p:cNvPr>
            <p:cNvSpPr/>
            <p:nvPr/>
          </p:nvSpPr>
          <p:spPr>
            <a:xfrm>
              <a:off x="7704000" y="6336000"/>
              <a:ext cx="2880000" cy="28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lvl="0" algn="ctr"/>
              <a:r>
                <a:rPr lang="zh-CN" altLang="en-US" dirty="0">
                  <a:solidFill>
                    <a:schemeClr val="tx1"/>
                  </a:solidFill>
                  <a:latin typeface="Georgia" panose="02040502050405020303" pitchFamily="18" charset="0"/>
                  <a:ea typeface="Gadugi" panose="020B0502040204020203" pitchFamily="34" charset="0"/>
                </a:rPr>
                <a:t>蛋白质结构预测</a:t>
              </a:r>
              <a:endPara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EA749CB-6DD3-4725-A004-B5F3E2D28AC1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22" name="燕尾形 3">
              <a:extLst>
                <a:ext uri="{FF2B5EF4-FFF2-40B4-BE49-F238E27FC236}">
                  <a16:creationId xmlns:a16="http://schemas.microsoft.com/office/drawing/2014/main" id="{AE4A6906-4D22-4D8D-BD5A-5874D2E7808E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23" name="燕尾形 4">
              <a:extLst>
                <a:ext uri="{FF2B5EF4-FFF2-40B4-BE49-F238E27FC236}">
                  <a16:creationId xmlns:a16="http://schemas.microsoft.com/office/drawing/2014/main" id="{B1031320-1AA3-474B-B3CD-A43EE0564500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24" name="燕尾形 5">
              <a:extLst>
                <a:ext uri="{FF2B5EF4-FFF2-40B4-BE49-F238E27FC236}">
                  <a16:creationId xmlns:a16="http://schemas.microsoft.com/office/drawing/2014/main" id="{6074F53E-29E9-4413-A722-296DF6A4FF3B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25" name="燕尾形 5">
              <a:extLst>
                <a:ext uri="{FF2B5EF4-FFF2-40B4-BE49-F238E27FC236}">
                  <a16:creationId xmlns:a16="http://schemas.microsoft.com/office/drawing/2014/main" id="{AA5D29CA-1B88-40F5-BFBD-03952C70D32C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47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深度学习简介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主要方法论：使用深度神经网络来表达复杂的数学函数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包含大量参数的神经网络，能够近似十分复杂的数学函数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端到端优化，适应不同数据，但可解释性不足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广泛应用于不同领域，如计算机视觉、自然语言处理、强化学习，等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E2C915-AAFC-4C21-A903-310A1AA5F8BC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Y. LeCun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Deep Learning,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2015.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[B]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S. Reed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A Generalized Agent,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TMLR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2022.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8DF55D-C0BB-4B8D-A8B8-04EC6A5127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"/>
          <a:stretch/>
        </p:blipFill>
        <p:spPr>
          <a:xfrm>
            <a:off x="1080000" y="2952000"/>
            <a:ext cx="4320000" cy="302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A2A2633-002F-4640-8FA2-1CAAB26BDB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" b="764"/>
          <a:stretch/>
        </p:blipFill>
        <p:spPr>
          <a:xfrm>
            <a:off x="6480000" y="2952000"/>
            <a:ext cx="4500000" cy="302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432673E-9CA6-4EF1-A33D-DE5EDEFA94B9}"/>
              </a:ext>
            </a:extLst>
          </p:cNvPr>
          <p:cNvSpPr/>
          <p:nvPr/>
        </p:nvSpPr>
        <p:spPr>
          <a:xfrm>
            <a:off x="1080000" y="5976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深度学习的优化方法</a:t>
            </a:r>
            <a:r>
              <a:rPr lang="en-US" altLang="zh-CN" baseline="30000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[A]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CD59AD-1303-461A-A35D-70DB5BCBBEDA}"/>
              </a:ext>
            </a:extLst>
          </p:cNvPr>
          <p:cNvSpPr/>
          <p:nvPr/>
        </p:nvSpPr>
        <p:spPr>
          <a:xfrm>
            <a:off x="6480000" y="5976000"/>
            <a:ext cx="450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深度神经网络能够解决不同问题</a:t>
            </a:r>
            <a:r>
              <a:rPr lang="en-US" altLang="zh-CN" baseline="30000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[B]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7ABCB95-C341-46E5-917D-BCF45B7AB7D5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3" name="燕尾形 3">
              <a:extLst>
                <a:ext uri="{FF2B5EF4-FFF2-40B4-BE49-F238E27FC236}">
                  <a16:creationId xmlns:a16="http://schemas.microsoft.com/office/drawing/2014/main" id="{04AB4886-3C78-464C-96E2-50ABA1965E1D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4" name="燕尾形 4">
              <a:extLst>
                <a:ext uri="{FF2B5EF4-FFF2-40B4-BE49-F238E27FC236}">
                  <a16:creationId xmlns:a16="http://schemas.microsoft.com/office/drawing/2014/main" id="{6026C04B-F58F-45D1-8D3C-1CCA023DDB3A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5" name="燕尾形 5">
              <a:extLst>
                <a:ext uri="{FF2B5EF4-FFF2-40B4-BE49-F238E27FC236}">
                  <a16:creationId xmlns:a16="http://schemas.microsoft.com/office/drawing/2014/main" id="{F7E39A73-93FD-4F80-945A-B486B27C2934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6" name="燕尾形 5">
              <a:extLst>
                <a:ext uri="{FF2B5EF4-FFF2-40B4-BE49-F238E27FC236}">
                  <a16:creationId xmlns:a16="http://schemas.microsoft.com/office/drawing/2014/main" id="{3EDF7BF3-4657-49B0-865C-E796F1DBC1B0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644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科学计算回顾（第一部分）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方法求解传统科学问题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算法为旧问题带来了新的解决方案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7782EA2-6316-4B26-8B46-50DCDA0FB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250321"/>
              </p:ext>
            </p:extLst>
          </p:nvPr>
        </p:nvGraphicFramePr>
        <p:xfrm>
          <a:off x="467999" y="2016000"/>
          <a:ext cx="11232002" cy="2687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48630">
                  <a:extLst>
                    <a:ext uri="{9D8B030D-6E8A-4147-A177-3AD203B41FA5}">
                      <a16:colId xmlns:a16="http://schemas.microsoft.com/office/drawing/2014/main" val="1699046617"/>
                    </a:ext>
                  </a:extLst>
                </a:gridCol>
                <a:gridCol w="3575957">
                  <a:extLst>
                    <a:ext uri="{9D8B030D-6E8A-4147-A177-3AD203B41FA5}">
                      <a16:colId xmlns:a16="http://schemas.microsoft.com/office/drawing/2014/main" val="2107081845"/>
                    </a:ext>
                  </a:extLst>
                </a:gridCol>
                <a:gridCol w="3575957">
                  <a:extLst>
                    <a:ext uri="{9D8B030D-6E8A-4147-A177-3AD203B41FA5}">
                      <a16:colId xmlns:a16="http://schemas.microsoft.com/office/drawing/2014/main" val="3307819476"/>
                    </a:ext>
                  </a:extLst>
                </a:gridCol>
                <a:gridCol w="2131458">
                  <a:extLst>
                    <a:ext uri="{9D8B030D-6E8A-4147-A177-3AD203B41FA5}">
                      <a16:colId xmlns:a16="http://schemas.microsoft.com/office/drawing/2014/main" val="3798078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学科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/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领域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传统解决方案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AI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解决方案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现有工作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01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棋类博弈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基于手工设计评估函数的启发式搜索算法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使用深度神经网络作为启发式函数，结合强化学习求解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DQN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[A]</a:t>
                      </a:r>
                      <a:r>
                        <a:rPr lang="zh-CN" altLang="en-US" sz="1600" i="0" dirty="0">
                          <a:latin typeface="Candara" panose="020E0502030303020204" pitchFamily="34" charset="0"/>
                        </a:rPr>
                        <a:t>、</a:t>
                      </a:r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AlphaGo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[B]</a:t>
                      </a:r>
                      <a:r>
                        <a:rPr lang="zh-CN" altLang="en-US" sz="1600" i="0" dirty="0">
                          <a:latin typeface="Candara" panose="020E0502030303020204" pitchFamily="34" charset="0"/>
                        </a:rPr>
                        <a:t>、</a:t>
                      </a:r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AlphaStar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[C]</a:t>
                      </a:r>
                      <a:r>
                        <a:rPr lang="zh-CN" altLang="en-US" sz="1600" i="0" baseline="0" dirty="0">
                          <a:latin typeface="Candara" panose="020E0502030303020204" pitchFamily="34" charset="0"/>
                        </a:rPr>
                        <a:t>，等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3052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生命科学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利用热力学或动力学模拟以求解蛋白质结构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结合蛋白质结构约束的深度学习方法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AlphaFold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[D]</a:t>
                      </a:r>
                      <a:r>
                        <a:rPr lang="zh-CN" altLang="en-US" sz="1600" i="0" dirty="0">
                          <a:latin typeface="Candara" panose="020E0502030303020204" pitchFamily="34" charset="0"/>
                        </a:rPr>
                        <a:t>，等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9594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地学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使用启发式方法分析地震回波中的复杂模式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使用深度学习分析地震回波中的复杂模式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DeVries et al.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[E]</a:t>
                      </a:r>
                      <a:r>
                        <a:rPr lang="zh-CN" altLang="en-US" sz="1600" i="0" dirty="0">
                          <a:latin typeface="Candara" panose="020E0502030303020204" pitchFamily="34" charset="0"/>
                        </a:rPr>
                        <a:t>，等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5793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核聚变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基于物理学的工程方法以优化托卡马克装置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基于强化学习的高频控制方法以优化托卡马克装置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Degrave et al.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[F]</a:t>
                      </a:r>
                      <a:r>
                        <a:rPr lang="zh-CN" altLang="en-US" sz="1600" i="0" dirty="0">
                          <a:latin typeface="Candara" panose="020E0502030303020204" pitchFamily="34" charset="0"/>
                        </a:rPr>
                        <a:t>，等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0822877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CC2CCFE-D649-4203-9660-CEC5C842B0DF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V. Mnih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Human-level Control through Deep Reinforcement Learning,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2015.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[B]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D. Silver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Mastering the Game of Go with Deep Neural Networks and Tree Search,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2015.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[C]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O. Vinyals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Grandmaster Level in StarCraft II Using Multi-agent Reinforcement Learning,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2019.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[D]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J. Jumper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Highly Accurate Protein Structure Prediction with AlphaFold,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2021.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[E]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P. DeVries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Deep Learning of Aftershock Patterns Following Large Earthquakes,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2018.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[F]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J. Degrave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Magnetic Control of Tokamak Plasmas Through Deep Reinforcement Learning,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2022.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0C60830-177B-472E-B869-5DC40610D435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8" name="燕尾形 3">
              <a:extLst>
                <a:ext uri="{FF2B5EF4-FFF2-40B4-BE49-F238E27FC236}">
                  <a16:creationId xmlns:a16="http://schemas.microsoft.com/office/drawing/2014/main" id="{B24570B8-4494-46D8-A337-2B337743EAD3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0" name="燕尾形 4">
              <a:extLst>
                <a:ext uri="{FF2B5EF4-FFF2-40B4-BE49-F238E27FC236}">
                  <a16:creationId xmlns:a16="http://schemas.microsoft.com/office/drawing/2014/main" id="{3641B30C-57DE-48D7-88ED-51BD39DCC706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9942F431-52B3-4C4E-99C9-955C25FCB2A9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D127ADD7-2378-4EAC-81F4-41AF290E0BB8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科学计算回顾（第一部分）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方法求解传统科学问题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算法为旧问题带来了新的解决方案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7782EA2-6316-4B26-8B46-50DCDA0FB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070814"/>
              </p:ext>
            </p:extLst>
          </p:nvPr>
        </p:nvGraphicFramePr>
        <p:xfrm>
          <a:off x="467999" y="2016000"/>
          <a:ext cx="11232002" cy="2687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48630">
                  <a:extLst>
                    <a:ext uri="{9D8B030D-6E8A-4147-A177-3AD203B41FA5}">
                      <a16:colId xmlns:a16="http://schemas.microsoft.com/office/drawing/2014/main" val="1699046617"/>
                    </a:ext>
                  </a:extLst>
                </a:gridCol>
                <a:gridCol w="3575957">
                  <a:extLst>
                    <a:ext uri="{9D8B030D-6E8A-4147-A177-3AD203B41FA5}">
                      <a16:colId xmlns:a16="http://schemas.microsoft.com/office/drawing/2014/main" val="2107081845"/>
                    </a:ext>
                  </a:extLst>
                </a:gridCol>
                <a:gridCol w="3575957">
                  <a:extLst>
                    <a:ext uri="{9D8B030D-6E8A-4147-A177-3AD203B41FA5}">
                      <a16:colId xmlns:a16="http://schemas.microsoft.com/office/drawing/2014/main" val="3307819476"/>
                    </a:ext>
                  </a:extLst>
                </a:gridCol>
                <a:gridCol w="2131458">
                  <a:extLst>
                    <a:ext uri="{9D8B030D-6E8A-4147-A177-3AD203B41FA5}">
                      <a16:colId xmlns:a16="http://schemas.microsoft.com/office/drawing/2014/main" val="3798078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学科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/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领域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传统解决方案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AI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解决方案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现有工作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01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数学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依赖于数学家的直觉来发现新的数学定理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andara" panose="020E0502030303020204" pitchFamily="34" charset="0"/>
                        </a:rPr>
                        <a:t>AI</a:t>
                      </a:r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方法辅助数学家发现和证明未知数学定理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Ramanujan Machine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[A]</a:t>
                      </a:r>
                      <a:r>
                        <a:rPr lang="zh-CN" altLang="en-US" sz="1600" i="0" dirty="0">
                          <a:latin typeface="Candara" panose="020E0502030303020204" pitchFamily="34" charset="0"/>
                        </a:rPr>
                        <a:t>、</a:t>
                      </a:r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Davies et al.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[B]</a:t>
                      </a:r>
                      <a:r>
                        <a:rPr lang="zh-CN" altLang="en-US" sz="1600" i="0" baseline="0" dirty="0">
                          <a:latin typeface="Candara" panose="020E0502030303020204" pitchFamily="34" charset="0"/>
                        </a:rPr>
                        <a:t>，等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3052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计算理论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手工设计新的高效算法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利用强化学习来设计和优化现有计算方法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AlphaTensor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[C]</a:t>
                      </a:r>
                      <a:r>
                        <a:rPr lang="zh-CN" altLang="en-US" sz="1600" i="0" dirty="0">
                          <a:latin typeface="Candara" panose="020E0502030303020204" pitchFamily="34" charset="0"/>
                        </a:rPr>
                        <a:t>，等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9594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短临气象预报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使用偏微分方程系统来模拟气象过程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基于深度学习的生成式模型来寻找气象数据中的有效模式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i="0" dirty="0">
                          <a:latin typeface="Candara" panose="020E0502030303020204" pitchFamily="34" charset="0"/>
                        </a:rPr>
                        <a:t>DGMR</a:t>
                      </a:r>
                      <a:r>
                        <a:rPr lang="en-US" altLang="zh-CN" sz="1600" i="0" baseline="30000" dirty="0">
                          <a:latin typeface="Candara" panose="020E0502030303020204" pitchFamily="34" charset="0"/>
                        </a:rPr>
                        <a:t>[D]</a:t>
                      </a:r>
                      <a:r>
                        <a:rPr lang="zh-CN" altLang="en-US" sz="1600" i="0" dirty="0">
                          <a:latin typeface="Candara" panose="020E0502030303020204" pitchFamily="34" charset="0"/>
                        </a:rPr>
                        <a:t>，等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5793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rgbClr val="C00000"/>
                          </a:solidFill>
                          <a:latin typeface="Candara" panose="020E0502030303020204" pitchFamily="34" charset="0"/>
                        </a:rPr>
                        <a:t>中长期气象预报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andara" panose="020E0502030303020204" pitchFamily="34" charset="0"/>
                        </a:rPr>
                        <a:t>使用偏微分方程系统来模拟气象过程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rgbClr val="C00000"/>
                          </a:solidFill>
                          <a:latin typeface="Candara" panose="020E0502030303020204" pitchFamily="34" charset="0"/>
                        </a:rPr>
                        <a:t>基于深度学习以拟合再分析数据中的复杂模式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dirty="0">
                          <a:solidFill>
                            <a:srgbClr val="C00000"/>
                          </a:solidFill>
                          <a:latin typeface="Candara" panose="020E0502030303020204" pitchFamily="34" charset="0"/>
                        </a:rPr>
                        <a:t>FourCastNet</a:t>
                      </a:r>
                      <a:r>
                        <a:rPr lang="en-US" altLang="zh-CN" sz="1600" b="0" i="0" baseline="30000" dirty="0">
                          <a:solidFill>
                            <a:srgbClr val="C00000"/>
                          </a:solidFill>
                          <a:latin typeface="Candara" panose="020E0502030303020204" pitchFamily="34" charset="0"/>
                        </a:rPr>
                        <a:t>[E]</a:t>
                      </a:r>
                      <a:r>
                        <a:rPr lang="zh-CN" altLang="en-US" sz="1600" b="0" i="0" dirty="0">
                          <a:solidFill>
                            <a:srgbClr val="C00000"/>
                          </a:solidFill>
                          <a:latin typeface="Candara" panose="020E0502030303020204" pitchFamily="34" charset="0"/>
                        </a:rPr>
                        <a:t>、盘古气象大模型</a:t>
                      </a:r>
                      <a:r>
                        <a:rPr lang="en-US" altLang="zh-CN" sz="1600" b="0" i="0" baseline="30000" dirty="0">
                          <a:solidFill>
                            <a:srgbClr val="C00000"/>
                          </a:solidFill>
                          <a:latin typeface="Candara" panose="020E0502030303020204" pitchFamily="34" charset="0"/>
                        </a:rPr>
                        <a:t>[F]</a:t>
                      </a:r>
                      <a:r>
                        <a:rPr lang="zh-CN" altLang="en-US" sz="1600" b="0" i="0" dirty="0">
                          <a:solidFill>
                            <a:srgbClr val="C00000"/>
                          </a:solidFill>
                          <a:latin typeface="Candara" panose="020E0502030303020204" pitchFamily="34" charset="0"/>
                        </a:rPr>
                        <a:t>，等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9096939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CC2CCFE-D649-4203-9660-CEC5C842B0DF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spc="-40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G. Raayoni</a:t>
            </a:r>
            <a:r>
              <a:rPr lang="en-US" altLang="zh-CN" sz="1600" spc="-4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spc="-4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spc="-4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Generating Conjectures on Fundamental Constants with the Ramanujan Machine, in </a:t>
            </a:r>
            <a:r>
              <a:rPr lang="en-US" altLang="zh-CN" sz="1600" i="1" spc="-4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spc="-4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2021.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[B]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A. Davies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Advancing Mathematics by Guiding Human Intuition with AI,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2021.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[C] </a:t>
            </a:r>
            <a:r>
              <a:rPr lang="en-US" altLang="zh-CN" sz="1600" b="1" spc="-20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A. Fawzi</a:t>
            </a:r>
            <a:r>
              <a:rPr lang="en-US" altLang="zh-CN" sz="1600" spc="-2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spc="-2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spc="-2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Discovering Faster Matrix Multiplication Algorithms with Reinforcement Learning, in </a:t>
            </a:r>
            <a:r>
              <a:rPr lang="en-US" altLang="zh-CN" sz="1600" i="1" spc="-2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spc="-2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2022.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[D]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S. Ravuri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Skillful Precipitation Nowcasting using Deep Generative Models of Radar,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2021.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[E]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J. Pathak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FourCastNet: A Global Data-driven High-resolution Weather Model Using Adaptive Fourier Neural Operators,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arXiv preprint:2202.11214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2022.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[F]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K. Bi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Accurate Medium-range Global Weather Forecasting with 3D Neural Networks,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2023.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0C60830-177B-472E-B869-5DC40610D435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8" name="燕尾形 3">
              <a:extLst>
                <a:ext uri="{FF2B5EF4-FFF2-40B4-BE49-F238E27FC236}">
                  <a16:creationId xmlns:a16="http://schemas.microsoft.com/office/drawing/2014/main" id="{B24570B8-4494-46D8-A337-2B337743EAD3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0" name="燕尾形 4">
              <a:extLst>
                <a:ext uri="{FF2B5EF4-FFF2-40B4-BE49-F238E27FC236}">
                  <a16:creationId xmlns:a16="http://schemas.microsoft.com/office/drawing/2014/main" id="{3641B30C-57DE-48D7-88ED-51BD39DCC706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9942F431-52B3-4C4E-99C9-955C25FCB2A9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D127ADD7-2378-4EAC-81F4-41AF290E0BB8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531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为什么要用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做数值气象预报？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两个通用的使用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方法的原则（适用于不同场景）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人类经验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不足以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对复杂系统进行建模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在数值气象预报中，手工设计的偏微分方程系统包括近似（例如处理一些超过当前分辨率要求的气象过程）和参数化（例如在处理对流等复杂气象过程），此类误差可能会随着迭代迅速叠加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数据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足以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训练复杂的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大模型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在数值气象预报领域，已经积累了足够大的数据集（如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ERA5</a:t>
            </a:r>
            <a:r>
              <a:rPr lang="en-US" altLang="zh-CN" sz="2400" baseline="300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[A]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），包含最近数十年的气象数据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做数值气象预报的额外好处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更快的预报速度：比数值方法快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10,000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倍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以上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为基于偏微分方程的气象预报系统提供了辅助信息和方法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A5C026-9AB3-4523-9463-3A78E2F8BA52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H. Hersbach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The ERA5 Global Analysis,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Quarterly Journal of the Royal Meteorological Society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2020.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BABB624-1ED0-429B-A1AA-642BC9CEBCB7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6" name="燕尾形 3">
              <a:extLst>
                <a:ext uri="{FF2B5EF4-FFF2-40B4-BE49-F238E27FC236}">
                  <a16:creationId xmlns:a16="http://schemas.microsoft.com/office/drawing/2014/main" id="{068B5AA5-3733-468A-9E84-1AD546436DAC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8" name="燕尾形 4">
              <a:extLst>
                <a:ext uri="{FF2B5EF4-FFF2-40B4-BE49-F238E27FC236}">
                  <a16:creationId xmlns:a16="http://schemas.microsoft.com/office/drawing/2014/main" id="{C9024FFF-B2A7-4982-9D5D-A47425FF4FC7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5F1D13F0-3348-42C3-8254-7E830D5B9A1A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6A1BABDA-BB08-4B0E-AB8B-FC119A270926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25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现有工作：传统数值预报方法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求解偏微分方程组以模拟气象系统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维护一个复杂的偏微分方程系统，并使用离散化等方法进行处理</a:t>
            </a:r>
            <a:endParaRPr lang="en-US" altLang="zh-CN" sz="2400" i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可能对于方程中设计的近似和参数化等较为敏感，且对于观测结果的噪声较为敏感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2224C3-C7DB-4E9E-9EE6-C0CCEC1685DA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D44130D8-24D5-4BC9-9A37-1452CAE6735E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295A07D4-0A8F-4A4F-AB46-F3DF134CC90D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DD065D94-EF74-4EE3-ABBA-C4D8372C818A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36E869F8-3340-4189-A844-13257DE02283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91B2DB4C-BE90-4942-948C-70DD20802B49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W. C. Skamarock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A Description of the Advanced Research WRF Model Version 4, by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National Center for Atmospheric Research: Boulder, CO, USA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2019.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F33919-9181-4979-BEF4-9ACC3499D71C}"/>
              </a:ext>
            </a:extLst>
          </p:cNvPr>
          <p:cNvSpPr/>
          <p:nvPr/>
        </p:nvSpPr>
        <p:spPr>
          <a:xfrm>
            <a:off x="216000" y="5760000"/>
            <a:ext cx="11736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《Advanced Research WRF Model Version 4》</a:t>
            </a:r>
            <a:r>
              <a:rPr lang="en-US" altLang="zh-CN" baseline="30000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[A]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中出现的一小部分偏微分方程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07661B3-4441-4329-B765-E38837E02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" y="2880000"/>
            <a:ext cx="5760000" cy="288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4B9A325-E15B-4CB9-B3F6-1367BCFD84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00" y="2880000"/>
            <a:ext cx="5760000" cy="288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592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现有工作：英伟达的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FourCastNet</a:t>
            </a:r>
            <a:endParaRPr lang="zh-CN" altLang="en-US" sz="3600" b="1" dirty="0">
              <a:solidFill>
                <a:schemeClr val="tx1"/>
              </a:solidFill>
              <a:latin typeface="Corbel" panose="020B05030202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首个基于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的全球高分辨率气象预报方法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1EA905-53F6-4D14-99F5-09FAE901E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00" y="1584000"/>
            <a:ext cx="7200000" cy="460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72993E4-0B5E-4DF3-AD42-50BBFBDD470C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J. Pathak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FourCastNet: A Global Data-driven High-resolution Weather Model Using Adaptive Fourier Neural Operators,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arXiv preprint:2202.11214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2022.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3B335F-3902-41A5-827B-F93EF3902BB9}"/>
              </a:ext>
            </a:extLst>
          </p:cNvPr>
          <p:cNvSpPr/>
          <p:nvPr/>
        </p:nvSpPr>
        <p:spPr>
          <a:xfrm>
            <a:off x="468000" y="1080000"/>
            <a:ext cx="4320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基于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vision transformer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Adaptive Fourier Neural Operator</a:t>
            </a: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迭代式微调，以减少迭代误差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首次实现了高分辨率气象预报，但精度仍然较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IFS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有明显差距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8181ADC-3F17-4701-A10C-DCE4C7EEEA3F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1" name="燕尾形 3">
              <a:extLst>
                <a:ext uri="{FF2B5EF4-FFF2-40B4-BE49-F238E27FC236}">
                  <a16:creationId xmlns:a16="http://schemas.microsoft.com/office/drawing/2014/main" id="{324F5BC6-5F55-415F-869F-048EA6D6BA13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2" name="燕尾形 4">
              <a:extLst>
                <a:ext uri="{FF2B5EF4-FFF2-40B4-BE49-F238E27FC236}">
                  <a16:creationId xmlns:a16="http://schemas.microsoft.com/office/drawing/2014/main" id="{C4F687CA-E7FE-4DAA-B38B-BC9F0E1B4088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25E9F60E-3E46-4740-ACD3-E16E335F04F2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4" name="燕尾形 5">
              <a:extLst>
                <a:ext uri="{FF2B5EF4-FFF2-40B4-BE49-F238E27FC236}">
                  <a16:creationId xmlns:a16="http://schemas.microsoft.com/office/drawing/2014/main" id="{A4EACFE1-3953-4500-AE0F-8159F4639A90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220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同期工作：谷歌的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GraphCast</a:t>
            </a:r>
            <a:endParaRPr lang="zh-CN" altLang="en-US" sz="3600" b="1" dirty="0">
              <a:solidFill>
                <a:schemeClr val="tx1"/>
              </a:solidFill>
              <a:latin typeface="Corbel" panose="020B0503020204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8000" y="1080000"/>
                <a:ext cx="4320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在再分析数据上取得了很好的效果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2D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编码器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-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解码器结构，配合多层级、基于图网络的信息传递方法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测试了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252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个气象变量，展现出很高的预报精度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在某些气象变量上呈现出模糊化预报结果，限制了其对某些气象过程（如台风）的预报能力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4320000" cy="5184000"/>
              </a:xfrm>
              <a:prstGeom prst="rect">
                <a:avLst/>
              </a:prstGeom>
              <a:blipFill>
                <a:blip r:embed="rId3"/>
                <a:stretch>
                  <a:fillRect l="-4661" t="-2115" r="-33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B81DEC9B-6122-4684-AFBB-115750F40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00" y="1080000"/>
            <a:ext cx="7200000" cy="576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5BFA85B-810F-4AF6-AA93-57D3036474DD}"/>
              </a:ext>
            </a:extLst>
          </p:cNvPr>
          <p:cNvSpPr/>
          <p:nvPr/>
        </p:nvSpPr>
        <p:spPr>
          <a:xfrm>
            <a:off x="1259999" y="6588000"/>
            <a:ext cx="352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R. Lam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GraphCast: Learning Skillful Medium-range Global Weather Forecasting,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arXiv preprint:2212.12794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2015.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E195AFC-0A73-4C26-BC01-65E27BC49D8B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0" name="燕尾形 3">
              <a:extLst>
                <a:ext uri="{FF2B5EF4-FFF2-40B4-BE49-F238E27FC236}">
                  <a16:creationId xmlns:a16="http://schemas.microsoft.com/office/drawing/2014/main" id="{5D3E6249-75E1-4587-BC3B-3F4CB6278AD3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1" name="燕尾形 4">
              <a:extLst>
                <a:ext uri="{FF2B5EF4-FFF2-40B4-BE49-F238E27FC236}">
                  <a16:creationId xmlns:a16="http://schemas.microsoft.com/office/drawing/2014/main" id="{4FA9E45D-2B0C-4024-AD0A-C1E819D40DE6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E2DE3A7B-6D1A-4A49-9DAC-C2172CA611E1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87D0E990-EC2A-4B08-B62A-95E1D47D9BF5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156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盘古气象大模型：整体框架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以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算法，推动业界迈向下一代数值气象预报框架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只要有足够的数据，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算法也能训练出高效的同化和后处理模型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A0494E0-93E1-4CE2-B9A1-A42458E1D854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27" name="燕尾形 3">
              <a:extLst>
                <a:ext uri="{FF2B5EF4-FFF2-40B4-BE49-F238E27FC236}">
                  <a16:creationId xmlns:a16="http://schemas.microsoft.com/office/drawing/2014/main" id="{B21BA645-50EB-48FE-844D-1A8634FF2FFA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28" name="燕尾形 4">
              <a:extLst>
                <a:ext uri="{FF2B5EF4-FFF2-40B4-BE49-F238E27FC236}">
                  <a16:creationId xmlns:a16="http://schemas.microsoft.com/office/drawing/2014/main" id="{1E2D3140-BAF8-4160-912C-8C0459180524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29" name="燕尾形 5">
              <a:extLst>
                <a:ext uri="{FF2B5EF4-FFF2-40B4-BE49-F238E27FC236}">
                  <a16:creationId xmlns:a16="http://schemas.microsoft.com/office/drawing/2014/main" id="{0734194A-6C8D-41BE-9433-4D3F3EF03B0E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30" name="燕尾形 5">
              <a:extLst>
                <a:ext uri="{FF2B5EF4-FFF2-40B4-BE49-F238E27FC236}">
                  <a16:creationId xmlns:a16="http://schemas.microsoft.com/office/drawing/2014/main" id="{39D25871-1C10-4CF0-98FE-43B6E5CE016E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sp>
        <p:nvSpPr>
          <p:cNvPr id="129" name="矩形 128">
            <a:extLst>
              <a:ext uri="{FF2B5EF4-FFF2-40B4-BE49-F238E27FC236}">
                <a16:creationId xmlns:a16="http://schemas.microsoft.com/office/drawing/2014/main" id="{B40B713A-F374-4EA6-9C3B-6E4637A2B371}"/>
              </a:ext>
            </a:extLst>
          </p:cNvPr>
          <p:cNvSpPr/>
          <p:nvPr/>
        </p:nvSpPr>
        <p:spPr>
          <a:xfrm>
            <a:off x="7308000" y="2160000"/>
            <a:ext cx="2160000" cy="39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ctr"/>
            <a:r>
              <a:rPr lang="zh-CN" altLang="en-US" sz="2400" b="1" spc="-40" dirty="0">
                <a:solidFill>
                  <a:schemeClr val="tx1"/>
                </a:solidFill>
                <a:latin typeface="Corbel" panose="020B0503020204020204" pitchFamily="34" charset="0"/>
              </a:rPr>
              <a:t>后处理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1CBAA995-BA1A-4EB1-BC45-896B5A703247}"/>
              </a:ext>
            </a:extLst>
          </p:cNvPr>
          <p:cNvSpPr/>
          <p:nvPr/>
        </p:nvSpPr>
        <p:spPr>
          <a:xfrm>
            <a:off x="4968000" y="2160000"/>
            <a:ext cx="2160000" cy="39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rbel" panose="020B0503020204020204" pitchFamily="34" charset="0"/>
              </a:rPr>
              <a:t>数值预报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B4117B6D-CBD9-490B-9E14-9C6461A40094}"/>
              </a:ext>
            </a:extLst>
          </p:cNvPr>
          <p:cNvSpPr/>
          <p:nvPr/>
        </p:nvSpPr>
        <p:spPr>
          <a:xfrm>
            <a:off x="2628000" y="2160000"/>
            <a:ext cx="2160000" cy="396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Corbel" panose="020B0503020204020204" pitchFamily="34" charset="0"/>
              </a:rPr>
              <a:t>同化</a:t>
            </a:r>
          </a:p>
        </p:txBody>
      </p:sp>
      <p:sp>
        <p:nvSpPr>
          <p:cNvPr id="73" name="圆柱形 72">
            <a:extLst>
              <a:ext uri="{FF2B5EF4-FFF2-40B4-BE49-F238E27FC236}">
                <a16:creationId xmlns:a16="http://schemas.microsoft.com/office/drawing/2014/main" id="{02B2C034-DAF7-47AC-AE50-9925752BEB5F}"/>
              </a:ext>
            </a:extLst>
          </p:cNvPr>
          <p:cNvSpPr/>
          <p:nvPr/>
        </p:nvSpPr>
        <p:spPr>
          <a:xfrm>
            <a:off x="288000" y="2952000"/>
            <a:ext cx="2016000" cy="1440000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观测气象数据</a:t>
            </a:r>
            <a:endParaRPr lang="en-US" altLang="zh-CN" sz="20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（如雷达）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B61356C-D494-48E9-8EF3-7DEEBE76BEF6}"/>
              </a:ext>
            </a:extLst>
          </p:cNvPr>
          <p:cNvSpPr/>
          <p:nvPr/>
        </p:nvSpPr>
        <p:spPr>
          <a:xfrm>
            <a:off x="2808000" y="2664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传统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同化算法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99C8CE9B-7A89-4281-957D-17301BC3F44A}"/>
              </a:ext>
            </a:extLst>
          </p:cNvPr>
          <p:cNvSpPr/>
          <p:nvPr/>
        </p:nvSpPr>
        <p:spPr>
          <a:xfrm>
            <a:off x="5148000" y="2664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传统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数值预报算法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9A6F140-0AF5-4910-B01C-EF5AB72A5177}"/>
              </a:ext>
            </a:extLst>
          </p:cNvPr>
          <p:cNvSpPr/>
          <p:nvPr/>
        </p:nvSpPr>
        <p:spPr>
          <a:xfrm>
            <a:off x="7488000" y="2664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传统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后处理算法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7A110456-5028-40C0-8097-3D670E545505}"/>
              </a:ext>
            </a:extLst>
          </p:cNvPr>
          <p:cNvSpPr/>
          <p:nvPr/>
        </p:nvSpPr>
        <p:spPr>
          <a:xfrm>
            <a:off x="2808000" y="3816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传统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同化算法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3E055B94-37B7-47A4-882C-8C8A4CC0CD8C}"/>
              </a:ext>
            </a:extLst>
          </p:cNvPr>
          <p:cNvSpPr/>
          <p:nvPr/>
        </p:nvSpPr>
        <p:spPr>
          <a:xfrm>
            <a:off x="5148000" y="3816000"/>
            <a:ext cx="1800000" cy="936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基于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的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数值预报算法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73D9EE38-DCAB-4C60-958E-FF8EE128DDF8}"/>
              </a:ext>
            </a:extLst>
          </p:cNvPr>
          <p:cNvSpPr/>
          <p:nvPr/>
        </p:nvSpPr>
        <p:spPr>
          <a:xfrm>
            <a:off x="7488000" y="3816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传统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后处理算法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A4529654-CDF5-4A59-8387-91B22CA1EEEA}"/>
              </a:ext>
            </a:extLst>
          </p:cNvPr>
          <p:cNvSpPr/>
          <p:nvPr/>
        </p:nvSpPr>
        <p:spPr>
          <a:xfrm>
            <a:off x="2808000" y="4968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基于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的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同化算法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0B8D6B01-59D1-413F-82BD-027C639643AA}"/>
              </a:ext>
            </a:extLst>
          </p:cNvPr>
          <p:cNvSpPr/>
          <p:nvPr/>
        </p:nvSpPr>
        <p:spPr>
          <a:xfrm>
            <a:off x="5148000" y="4968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基于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的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数值预报算法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0B829958-84AE-4AEE-B87C-327405A917CB}"/>
              </a:ext>
            </a:extLst>
          </p:cNvPr>
          <p:cNvSpPr/>
          <p:nvPr/>
        </p:nvSpPr>
        <p:spPr>
          <a:xfrm>
            <a:off x="7488000" y="4968000"/>
            <a:ext cx="1800000" cy="936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基于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的</a:t>
            </a:r>
            <a:endParaRPr lang="en-US" altLang="zh-CN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</a:rPr>
              <a:t>后处理算法</a:t>
            </a:r>
          </a:p>
        </p:txBody>
      </p:sp>
      <p:sp>
        <p:nvSpPr>
          <p:cNvPr id="85" name="圆柱形 84">
            <a:extLst>
              <a:ext uri="{FF2B5EF4-FFF2-40B4-BE49-F238E27FC236}">
                <a16:creationId xmlns:a16="http://schemas.microsoft.com/office/drawing/2014/main" id="{A3D28BF8-72AE-4867-BA68-AB0FFDDFA0DC}"/>
              </a:ext>
            </a:extLst>
          </p:cNvPr>
          <p:cNvSpPr/>
          <p:nvPr/>
        </p:nvSpPr>
        <p:spPr>
          <a:xfrm>
            <a:off x="10008000" y="2952000"/>
            <a:ext cx="2016000" cy="1440000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预报结果</a:t>
            </a:r>
            <a:endParaRPr lang="en-US" altLang="zh-CN" sz="20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（如温度）</a:t>
            </a:r>
          </a:p>
        </p:txBody>
      </p:sp>
      <p:cxnSp>
        <p:nvCxnSpPr>
          <p:cNvPr id="87" name="连接符: 曲线 86">
            <a:extLst>
              <a:ext uri="{FF2B5EF4-FFF2-40B4-BE49-F238E27FC236}">
                <a16:creationId xmlns:a16="http://schemas.microsoft.com/office/drawing/2014/main" id="{3B6657C9-F22C-4E2E-B95D-7749B82B369B}"/>
              </a:ext>
            </a:extLst>
          </p:cNvPr>
          <p:cNvCxnSpPr>
            <a:stCxn id="73" idx="4"/>
            <a:endCxn id="74" idx="1"/>
          </p:cNvCxnSpPr>
          <p:nvPr/>
        </p:nvCxnSpPr>
        <p:spPr>
          <a:xfrm flipV="1">
            <a:off x="2304000" y="3132000"/>
            <a:ext cx="504000" cy="540000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曲线 87">
            <a:extLst>
              <a:ext uri="{FF2B5EF4-FFF2-40B4-BE49-F238E27FC236}">
                <a16:creationId xmlns:a16="http://schemas.microsoft.com/office/drawing/2014/main" id="{6E6F1AF9-07BA-4294-9046-6C04BC54862A}"/>
              </a:ext>
            </a:extLst>
          </p:cNvPr>
          <p:cNvCxnSpPr>
            <a:cxnSpLocks/>
            <a:stCxn id="73" idx="4"/>
            <a:endCxn id="81" idx="1"/>
          </p:cNvCxnSpPr>
          <p:nvPr/>
        </p:nvCxnSpPr>
        <p:spPr>
          <a:xfrm>
            <a:off x="2304000" y="3672000"/>
            <a:ext cx="504000" cy="17640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>
            <a:extLst>
              <a:ext uri="{FF2B5EF4-FFF2-40B4-BE49-F238E27FC236}">
                <a16:creationId xmlns:a16="http://schemas.microsoft.com/office/drawing/2014/main" id="{0F0616C1-262E-4192-8A8E-65E6312B2D06}"/>
              </a:ext>
            </a:extLst>
          </p:cNvPr>
          <p:cNvCxnSpPr>
            <a:cxnSpLocks/>
            <a:stCxn id="76" idx="3"/>
            <a:endCxn id="85" idx="2"/>
          </p:cNvCxnSpPr>
          <p:nvPr/>
        </p:nvCxnSpPr>
        <p:spPr>
          <a:xfrm>
            <a:off x="9288000" y="3132000"/>
            <a:ext cx="720000" cy="5400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曲线 93">
            <a:extLst>
              <a:ext uri="{FF2B5EF4-FFF2-40B4-BE49-F238E27FC236}">
                <a16:creationId xmlns:a16="http://schemas.microsoft.com/office/drawing/2014/main" id="{427E9155-97D7-4F93-A817-BC3F0192F083}"/>
              </a:ext>
            </a:extLst>
          </p:cNvPr>
          <p:cNvCxnSpPr>
            <a:cxnSpLocks/>
            <a:stCxn id="83" idx="3"/>
            <a:endCxn id="85" idx="2"/>
          </p:cNvCxnSpPr>
          <p:nvPr/>
        </p:nvCxnSpPr>
        <p:spPr>
          <a:xfrm flipV="1">
            <a:off x="9288000" y="3672000"/>
            <a:ext cx="720000" cy="17640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BD63F955-53D4-404B-A10D-4D82A35134E5}"/>
              </a:ext>
            </a:extLst>
          </p:cNvPr>
          <p:cNvCxnSpPr>
            <a:stCxn id="74" idx="3"/>
            <a:endCxn id="75" idx="1"/>
          </p:cNvCxnSpPr>
          <p:nvPr/>
        </p:nvCxnSpPr>
        <p:spPr>
          <a:xfrm>
            <a:off x="4608000" y="3132000"/>
            <a:ext cx="54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88ACF5E-795A-4271-A1DB-5FBC3DADE97C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>
            <a:off x="6948000" y="3132000"/>
            <a:ext cx="54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E04FFD2-E593-4B63-BAAD-BEE80F276D4A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>
            <a:off x="4608000" y="4284000"/>
            <a:ext cx="540000" cy="0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5A460DCB-6597-457F-A13B-A4DE6BDEB010}"/>
              </a:ext>
            </a:extLst>
          </p:cNvPr>
          <p:cNvCxnSpPr>
            <a:cxnSpLocks/>
            <a:stCxn id="78" idx="3"/>
            <a:endCxn id="80" idx="1"/>
          </p:cNvCxnSpPr>
          <p:nvPr/>
        </p:nvCxnSpPr>
        <p:spPr>
          <a:xfrm>
            <a:off x="6948000" y="4284000"/>
            <a:ext cx="540000" cy="0"/>
          </a:xfrm>
          <a:prstGeom prst="straightConnector1">
            <a:avLst/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23157B9B-C0DA-4821-A57B-E7FC9AFAA6CC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>
            <a:off x="4608000" y="5436000"/>
            <a:ext cx="54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A8FF545B-9FB8-451D-84F9-AD19B009AF3B}"/>
              </a:ext>
            </a:extLst>
          </p:cNvPr>
          <p:cNvCxnSpPr>
            <a:cxnSpLocks/>
            <a:stCxn id="82" idx="3"/>
            <a:endCxn id="83" idx="1"/>
          </p:cNvCxnSpPr>
          <p:nvPr/>
        </p:nvCxnSpPr>
        <p:spPr>
          <a:xfrm>
            <a:off x="6948000" y="5436000"/>
            <a:ext cx="54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13D5E518-182E-4067-8F8B-49BD11F314D1}"/>
              </a:ext>
            </a:extLst>
          </p:cNvPr>
          <p:cNvSpPr/>
          <p:nvPr/>
        </p:nvSpPr>
        <p:spPr>
          <a:xfrm>
            <a:off x="2808000" y="6264000"/>
            <a:ext cx="6480000" cy="43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基于</a:t>
            </a:r>
            <a:r>
              <a:rPr lang="en-US" altLang="zh-CN" sz="2000" dirty="0">
                <a:solidFill>
                  <a:schemeClr val="tx1"/>
                </a:solidFill>
                <a:latin typeface="Georgia" panose="02040502050405020303" pitchFamily="18" charset="0"/>
              </a:rPr>
              <a:t>AI</a:t>
            </a:r>
            <a:r>
              <a:rPr lang="zh-CN" alt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的端到端预报算法</a:t>
            </a:r>
          </a:p>
        </p:txBody>
      </p:sp>
      <p:cxnSp>
        <p:nvCxnSpPr>
          <p:cNvPr id="121" name="连接符: 曲线 120">
            <a:extLst>
              <a:ext uri="{FF2B5EF4-FFF2-40B4-BE49-F238E27FC236}">
                <a16:creationId xmlns:a16="http://schemas.microsoft.com/office/drawing/2014/main" id="{E5DDE1D9-6135-4535-A626-03D27F590B73}"/>
              </a:ext>
            </a:extLst>
          </p:cNvPr>
          <p:cNvCxnSpPr>
            <a:cxnSpLocks/>
            <a:stCxn id="73" idx="4"/>
            <a:endCxn id="120" idx="1"/>
          </p:cNvCxnSpPr>
          <p:nvPr/>
        </p:nvCxnSpPr>
        <p:spPr>
          <a:xfrm>
            <a:off x="2304000" y="3672000"/>
            <a:ext cx="504000" cy="28080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曲线 123">
            <a:extLst>
              <a:ext uri="{FF2B5EF4-FFF2-40B4-BE49-F238E27FC236}">
                <a16:creationId xmlns:a16="http://schemas.microsoft.com/office/drawing/2014/main" id="{9F43A27E-7E97-4C74-B402-9B9C8158C736}"/>
              </a:ext>
            </a:extLst>
          </p:cNvPr>
          <p:cNvCxnSpPr>
            <a:cxnSpLocks/>
            <a:stCxn id="120" idx="3"/>
            <a:endCxn id="85" idx="2"/>
          </p:cNvCxnSpPr>
          <p:nvPr/>
        </p:nvCxnSpPr>
        <p:spPr>
          <a:xfrm flipV="1">
            <a:off x="9288000" y="3672000"/>
            <a:ext cx="720000" cy="28080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曲线 129">
            <a:extLst>
              <a:ext uri="{FF2B5EF4-FFF2-40B4-BE49-F238E27FC236}">
                <a16:creationId xmlns:a16="http://schemas.microsoft.com/office/drawing/2014/main" id="{998B87F1-A727-4407-9BA4-8C8B9B0A48AF}"/>
              </a:ext>
            </a:extLst>
          </p:cNvPr>
          <p:cNvCxnSpPr>
            <a:cxnSpLocks/>
            <a:stCxn id="73" idx="4"/>
            <a:endCxn id="77" idx="1"/>
          </p:cNvCxnSpPr>
          <p:nvPr/>
        </p:nvCxnSpPr>
        <p:spPr>
          <a:xfrm>
            <a:off x="2304000" y="3672000"/>
            <a:ext cx="504000" cy="612000"/>
          </a:xfrm>
          <a:prstGeom prst="curvedConnector3">
            <a:avLst>
              <a:gd name="adj1" fmla="val 50000"/>
            </a:avLst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曲线 132">
            <a:extLst>
              <a:ext uri="{FF2B5EF4-FFF2-40B4-BE49-F238E27FC236}">
                <a16:creationId xmlns:a16="http://schemas.microsoft.com/office/drawing/2014/main" id="{A0DF8794-EEA6-4F4E-920E-EE38FD819021}"/>
              </a:ext>
            </a:extLst>
          </p:cNvPr>
          <p:cNvCxnSpPr>
            <a:cxnSpLocks/>
            <a:stCxn id="80" idx="3"/>
            <a:endCxn id="85" idx="2"/>
          </p:cNvCxnSpPr>
          <p:nvPr/>
        </p:nvCxnSpPr>
        <p:spPr>
          <a:xfrm flipV="1">
            <a:off x="9288000" y="3672000"/>
            <a:ext cx="720000" cy="612000"/>
          </a:xfrm>
          <a:prstGeom prst="curvedConnector3">
            <a:avLst>
              <a:gd name="adj1" fmla="val 50000"/>
            </a:avLst>
          </a:prstGeom>
          <a:ln w="254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008601D7-76F1-4999-AEE0-9991167D4775}"/>
              </a:ext>
            </a:extLst>
          </p:cNvPr>
          <p:cNvCxnSpPr/>
          <p:nvPr/>
        </p:nvCxnSpPr>
        <p:spPr>
          <a:xfrm>
            <a:off x="288000" y="4860000"/>
            <a:ext cx="11736000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>
            <a:extLst>
              <a:ext uri="{FF2B5EF4-FFF2-40B4-BE49-F238E27FC236}">
                <a16:creationId xmlns:a16="http://schemas.microsoft.com/office/drawing/2014/main" id="{A3F8C829-7B0F-4857-A411-B5DA57A42836}"/>
              </a:ext>
            </a:extLst>
          </p:cNvPr>
          <p:cNvSpPr/>
          <p:nvPr/>
        </p:nvSpPr>
        <p:spPr>
          <a:xfrm>
            <a:off x="288000" y="4500000"/>
            <a:ext cx="144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zh-CN" altLang="en-US" sz="2000" b="1" dirty="0">
                <a:solidFill>
                  <a:schemeClr val="tx1"/>
                </a:solidFill>
                <a:latin typeface="Georgia" panose="02040502050405020303" pitchFamily="18" charset="0"/>
              </a:rPr>
              <a:t>现有方法</a:t>
            </a:r>
            <a:endParaRPr lang="zh-CN" altLang="en-US" sz="24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E20544A3-B511-4CC6-90C1-0D2F12EDBE0C}"/>
              </a:ext>
            </a:extLst>
          </p:cNvPr>
          <p:cNvSpPr/>
          <p:nvPr/>
        </p:nvSpPr>
        <p:spPr>
          <a:xfrm>
            <a:off x="288000" y="4860000"/>
            <a:ext cx="144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/>
          <a:lstStyle/>
          <a:p>
            <a:r>
              <a:rPr lang="zh-CN" altLang="en-US" sz="2000" b="1" dirty="0">
                <a:solidFill>
                  <a:schemeClr val="tx1"/>
                </a:solidFill>
                <a:latin typeface="Georgia" panose="02040502050405020303" pitchFamily="18" charset="0"/>
              </a:rPr>
              <a:t>未来趋势</a:t>
            </a:r>
            <a:endParaRPr lang="zh-CN" altLang="en-US" sz="24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50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数据和设定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数据集细节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欧洲气象中心第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代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再分析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数据（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ERA5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）：公开可下载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提供了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1940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年至今，逐小时的再分析数据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我们使用了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1979–2017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年的数据用于训练，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2019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年的数据用于验证，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2018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2020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2021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年的数据用于测试（与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WeatherBench</a:t>
            </a:r>
            <a:r>
              <a:rPr lang="en-US" altLang="zh-CN" sz="2400" baseline="300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[A]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的设定保持一致）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一系列地表气象变量和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37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个高空层的一系列高空气象变量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我们使用了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个地表变量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米温度、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米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风和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V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风、平均海面气压）和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个高空变量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（重力位势、比湿、温度、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 U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风和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V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风）在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13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个高空层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50hPa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100hPa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150hPa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250hPa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300hPa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350hPa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400hPa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500hPa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600hPa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700hPa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850hPa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925hPa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1000hPa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全量数据集超过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2000TB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，我们使用了其中约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60TB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的数据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0B088F-6633-43B5-AA77-B03CCA068C05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S. Rasp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WeatherBench: A Benchmark Data Set for Data-driven Weather Forecasting,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JAMES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2020.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56C120-B031-427C-9B0F-D27134A3AA84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6" name="燕尾形 3">
              <a:extLst>
                <a:ext uri="{FF2B5EF4-FFF2-40B4-BE49-F238E27FC236}">
                  <a16:creationId xmlns:a16="http://schemas.microsoft.com/office/drawing/2014/main" id="{572848F2-0B8C-4108-8B31-35FA760BCDC0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8" name="燕尾形 4">
              <a:extLst>
                <a:ext uri="{FF2B5EF4-FFF2-40B4-BE49-F238E27FC236}">
                  <a16:creationId xmlns:a16="http://schemas.microsoft.com/office/drawing/2014/main" id="{CAD27E3B-FF3D-413F-ABF8-F9A18DABC6EA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C909D93F-207C-4C45-BD62-513CB0571D07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6A1AA7DE-3506-4609-AB1A-3D4BECEBB024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226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深度神经网络的输入和输出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8000" y="1080000"/>
                <a:ext cx="11232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在数值预报问题中，神经网络的输入和输出具有同样的形式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在前述设定下，输入和输出都包含超过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7000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万个气象变量：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1440</m:t>
                    </m:r>
                    <m:r>
                      <a:rPr lang="en-US" altLang="zh-CN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×720×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13×5+4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注意：当前的分辨率（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0.25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，对应于赤道附近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27km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分辨率）仅能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勉强满足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某些气象过程的预报要求（如热带风暴）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未来趋势：将构建更大数据集，覆盖更完整的气象变量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1260000" lvl="2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欧洲气象中心宣布将发布第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6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代再分析数据，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分辨率提升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倍</a:t>
                </a:r>
                <a:endParaRPr lang="en-US" altLang="zh-CN" sz="2400" b="1" dirty="0">
                  <a:solidFill>
                    <a:srgbClr val="C00000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1260000" lvl="2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更多气压层、更多气象变量间的关系，有待探究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机器学习算法面临的挑战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捕捉输入和输出数据间复杂的对应关系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方法：给定固定的预报时间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，训练一个深度神经网络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，接收任意时刻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的气象变量作为输入，将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lang="el-GR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𝑡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时刻的气象变量作为输出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11232000" cy="5184000"/>
              </a:xfrm>
              <a:prstGeom prst="rect">
                <a:avLst/>
              </a:prstGeom>
              <a:blipFill>
                <a:blip r:embed="rId3"/>
                <a:stretch>
                  <a:fillRect l="-1792" t="-2233" r="-543" b="-37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956C0C84-4E7A-42A0-9864-0C9E3C3E68DC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2841C78C-FF89-44EF-AF39-6B20028CBD08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2E1BA773-B2B4-47C9-B28D-AF10E235D67E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07530A5F-0B57-461C-96D1-14B2B044C525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81B95BA3-2758-4AFE-A11B-82D9DB75971C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118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网络结构：引入地球坐标的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3D Transformer</a:t>
            </a:r>
            <a:endParaRPr lang="zh-CN" altLang="en-US" sz="3600" b="1" dirty="0">
              <a:solidFill>
                <a:schemeClr val="tx1"/>
              </a:solidFill>
              <a:latin typeface="Corbel" panose="020B05030202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 vision transformer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以处理三维体数据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Swin transformer</a:t>
            </a:r>
            <a:r>
              <a:rPr lang="en-US" altLang="zh-CN" sz="2400" baseline="300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[A]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以加速计算过程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减少了网络深度和宽度以适配硬件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（更大的模型将会产生更好的结果）</a:t>
            </a:r>
            <a:endParaRPr lang="en-US" altLang="zh-CN" sz="2400" b="1" dirty="0">
              <a:solidFill>
                <a:srgbClr val="C00000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F2635B-6A0C-4EA6-B5E2-9E81013F79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"/>
          <a:stretch/>
        </p:blipFill>
        <p:spPr>
          <a:xfrm>
            <a:off x="1080000" y="2520000"/>
            <a:ext cx="10080000" cy="4032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D39D7F9-0DB4-4769-9C69-6982E287895A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Z. Liu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Swin Transformer: Hierarchical Vision Transformer using Shifted Windows,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ICCV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2021.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FCD3E4C-B6F0-47FA-A4E7-85822B3F54F1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5" name="燕尾形 3">
              <a:extLst>
                <a:ext uri="{FF2B5EF4-FFF2-40B4-BE49-F238E27FC236}">
                  <a16:creationId xmlns:a16="http://schemas.microsoft.com/office/drawing/2014/main" id="{3D50E7A5-13A0-4FBA-842B-06D5498CDB50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6" name="燕尾形 4">
              <a:extLst>
                <a:ext uri="{FF2B5EF4-FFF2-40B4-BE49-F238E27FC236}">
                  <a16:creationId xmlns:a16="http://schemas.microsoft.com/office/drawing/2014/main" id="{EE3F2ABC-978D-4BE6-99B0-7D7F18FDA357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7" name="燕尾形 5">
              <a:extLst>
                <a:ext uri="{FF2B5EF4-FFF2-40B4-BE49-F238E27FC236}">
                  <a16:creationId xmlns:a16="http://schemas.microsoft.com/office/drawing/2014/main" id="{5287C4A9-684B-4FCC-A0E4-4EDAF0DE4294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8" name="燕尾形 5">
              <a:extLst>
                <a:ext uri="{FF2B5EF4-FFF2-40B4-BE49-F238E27FC236}">
                  <a16:creationId xmlns:a16="http://schemas.microsoft.com/office/drawing/2014/main" id="{611E64FA-7B1E-4AF4-AB36-DC8CFEC5C2F2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552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为什么使用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神经网络？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神经网络可以建模更复杂的空间信息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神经网络中的神经元能够感知高度信息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神经元的间隔、气象变量的数据分布、气象变量间的复杂关系，都随着高度发生变化，从而需要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神经网络进行建模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许多复杂的气象过程（辐射、对流等）需要在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空间中更好地建模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神经网络的推理速度更快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无需像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2D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神经网络那样，逐层处理气象数据后再叠加成最终预报输出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ADCDAD-13F6-4E12-A5D4-3D412E614FB4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28B1FA3A-9E30-4583-ADE5-DB7D88BA321C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772B9A5C-09E0-4E94-93A2-17157CC99838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3CC0903F-650C-4618-84EC-98DFE63A2FAC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80A2FD6A-8CC3-4EAD-A00C-5486BEE0FA9A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842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改进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：引入地球坐标先验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动机：气象变量与它们在地球坐标系内的绝对位置相关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简要设计原理：在神经网络中修改“位置偏置”项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具体地，将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Swin transformer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中的相对位置偏置修改为绝对位置偏置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C9C18E-587B-4997-A31C-44A428A51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000" y="2736000"/>
            <a:ext cx="3600000" cy="324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D9ECDC9-D506-434D-B88D-6661E261D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36000"/>
            <a:ext cx="2700000" cy="324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64F68D3-B867-417E-9AC9-E7152C1422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0" y="2736000"/>
            <a:ext cx="3240000" cy="324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248D799F-B0F8-43D9-B4B6-071FEB8294F1}"/>
              </a:ext>
            </a:extLst>
          </p:cNvPr>
          <p:cNvSpPr/>
          <p:nvPr/>
        </p:nvSpPr>
        <p:spPr>
          <a:xfrm>
            <a:off x="720000" y="5976000"/>
            <a:ext cx="270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地球表面的不均匀网格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F65FF2-EFBA-46DE-AAC7-3020EFCF419B}"/>
              </a:ext>
            </a:extLst>
          </p:cNvPr>
          <p:cNvSpPr/>
          <p:nvPr/>
        </p:nvSpPr>
        <p:spPr>
          <a:xfrm>
            <a:off x="3960000" y="5976000"/>
            <a:ext cx="324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地势高度相对于维度的变化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CF9A7C-6BEE-49F6-B5E0-F735AE836CCB}"/>
              </a:ext>
            </a:extLst>
          </p:cNvPr>
          <p:cNvSpPr/>
          <p:nvPr/>
        </p:nvSpPr>
        <p:spPr>
          <a:xfrm>
            <a:off x="7740000" y="5976000"/>
            <a:ext cx="360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风速和气温相对于高度的变化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6D1297C-7954-4A32-B233-98A4F920FF45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20" name="燕尾形 3">
              <a:extLst>
                <a:ext uri="{FF2B5EF4-FFF2-40B4-BE49-F238E27FC236}">
                  <a16:creationId xmlns:a16="http://schemas.microsoft.com/office/drawing/2014/main" id="{EC3FF3D3-F56D-49B1-98BC-A8FAB6571326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21" name="燕尾形 4">
              <a:extLst>
                <a:ext uri="{FF2B5EF4-FFF2-40B4-BE49-F238E27FC236}">
                  <a16:creationId xmlns:a16="http://schemas.microsoft.com/office/drawing/2014/main" id="{7AFD9123-FA6A-469A-8E65-CC08F822A769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22" name="燕尾形 5">
              <a:extLst>
                <a:ext uri="{FF2B5EF4-FFF2-40B4-BE49-F238E27FC236}">
                  <a16:creationId xmlns:a16="http://schemas.microsoft.com/office/drawing/2014/main" id="{240EEC47-7107-42EC-8099-0530A90D2908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23" name="燕尾形 5">
              <a:extLst>
                <a:ext uri="{FF2B5EF4-FFF2-40B4-BE49-F238E27FC236}">
                  <a16:creationId xmlns:a16="http://schemas.microsoft.com/office/drawing/2014/main" id="{C82EA415-CD65-4E69-9132-EF7711F7AC91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18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改进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：层次化时域聚合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7095556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我们观察到，预报误差随迭代快速增加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因此，减少迭代次数可以提升预报准确率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层次化时域聚合算法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我们训练了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个模型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，其预报时长分别为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小时、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小时、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小时、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24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小时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每次预报时，采用贪心算法，选择不超过预报要求且预报时长最大的模型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天预报仅需迭代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次，迭代步数显著减少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6D38A5-ED19-40CD-B2E5-7FA8BC1CF1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5"/>
          <a:stretch/>
        </p:blipFill>
        <p:spPr>
          <a:xfrm>
            <a:off x="7740000" y="1080000"/>
            <a:ext cx="4320000" cy="360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BEF5B56-8C20-4232-99B4-0EBBDCBD92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0"/>
          <a:stretch/>
        </p:blipFill>
        <p:spPr>
          <a:xfrm>
            <a:off x="1260000" y="4824000"/>
            <a:ext cx="10800000" cy="2016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2F28323-894B-49A3-905A-8C90FA020530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0" name="燕尾形 3">
              <a:extLst>
                <a:ext uri="{FF2B5EF4-FFF2-40B4-BE49-F238E27FC236}">
                  <a16:creationId xmlns:a16="http://schemas.microsoft.com/office/drawing/2014/main" id="{19ED31F3-180F-475B-B7A7-B08A14ACD74D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1" name="燕尾形 4">
              <a:extLst>
                <a:ext uri="{FF2B5EF4-FFF2-40B4-BE49-F238E27FC236}">
                  <a16:creationId xmlns:a16="http://schemas.microsoft.com/office/drawing/2014/main" id="{4A9181E0-F985-4CCC-9FA5-C71039008D2C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EAB5A5DB-4122-4CE1-AA7E-63241D9CB313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628D2642-F893-40C8-9902-9B9A74068368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829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计算开销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训练阶段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每个神经网络模型拥有大约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6400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万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参数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每个神经网络模型都在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ERA5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数据上训练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100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代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，为此需要在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192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块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NVIDIA V100 GPU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上运行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16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天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（尚未完全收敛）</a:t>
            </a:r>
            <a:endParaRPr lang="en-US" altLang="zh-CN" sz="2400" b="1" dirty="0">
              <a:solidFill>
                <a:srgbClr val="C00000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推理阶段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每次迭代预报需要在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单块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NVIDIA V100 GPU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上运行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1.4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秒</a:t>
            </a:r>
            <a:endParaRPr lang="en-US" altLang="zh-CN" sz="2400" b="1" dirty="0">
              <a:solidFill>
                <a:srgbClr val="C00000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即使只有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，也可以在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分钟内完成推理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一个直观的例子：为了完成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天全球气象预报，可以迭代调用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24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小时模型推理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次，仅需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不到</a:t>
            </a:r>
            <a:r>
              <a:rPr lang="en-US" altLang="zh-CN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10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秒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即可完成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在较快的推理速度下，集成气象预报的成本也显著降低（见后）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我们将训练好的模型开源</a:t>
            </a:r>
            <a:r>
              <a:rPr lang="en-US" altLang="zh-CN" sz="2800" b="1" baseline="300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[A]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，以促进相关领域的研究</a:t>
            </a:r>
            <a:endParaRPr lang="en-US" altLang="zh-CN" sz="2400" b="1" dirty="0">
              <a:solidFill>
                <a:srgbClr val="C00000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B4DFD8-6236-4639-8F18-F1F70C7C9C3A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9AD08A23-A4F7-4579-8033-0126E3A43BF9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36ECFB41-9D45-4679-BFFE-9F415D3D5C45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C60BC64D-8062-40D4-B90B-4AB0F65405CF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9AF17822-A884-441E-B80A-37A137A0A368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8144A5EF-9E3C-4461-8FD0-ECC16BCD8CFC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  <a:hlinkClick r:id="rId3"/>
              </a:rPr>
              <a:t>https://github.com/198808xc/Pangu-Weather</a:t>
            </a:r>
            <a:endParaRPr lang="en-US" altLang="zh-CN" sz="1600" dirty="0">
              <a:solidFill>
                <a:srgbClr val="1D1D1A"/>
              </a:solidFill>
              <a:latin typeface="Candara" panose="020E0502030303020204" pitchFamily="34" charset="0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812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确定性预报：逐变量分析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首个超越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operational IFS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精度的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气象预报方法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0016D7-8314-49AA-A3E5-D356F79CB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00" y="1584000"/>
            <a:ext cx="7200000" cy="5184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D7EF8D-2250-4FA9-92A1-192C1B8A717D}"/>
                  </a:ext>
                </a:extLst>
              </p:cNvPr>
              <p:cNvSpPr/>
              <p:nvPr/>
            </p:nvSpPr>
            <p:spPr>
              <a:xfrm>
                <a:off x="468000" y="1080000"/>
                <a:ext cx="4320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Z500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变量，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IFS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天预报均方根误差（单位：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）分别为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152.8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333.7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，而盘古的相应误差为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134.5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（减少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12%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296.7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（减少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11%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T850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变量，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IFS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天预报均方根误差（单位：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𝐾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）分别为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1.37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2.06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，而盘古的相应误差为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1.14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（减少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17%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1.79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（减少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13%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solidFill>
                    <a:srgbClr val="C00000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D7EF8D-2250-4FA9-92A1-192C1B8A7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4320000" cy="5184000"/>
              </a:xfrm>
              <a:prstGeom prst="rect">
                <a:avLst/>
              </a:prstGeom>
              <a:blipFill>
                <a:blip r:embed="rId4"/>
                <a:stretch>
                  <a:fillRect r="-1836" b="-63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78959A24-1159-46AB-8B99-AC0C4DB8CB14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2" name="燕尾形 3">
              <a:extLst>
                <a:ext uri="{FF2B5EF4-FFF2-40B4-BE49-F238E27FC236}">
                  <a16:creationId xmlns:a16="http://schemas.microsoft.com/office/drawing/2014/main" id="{C18316CC-BB10-421B-97A5-B10EE70B7993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3" name="燕尾形 4">
              <a:extLst>
                <a:ext uri="{FF2B5EF4-FFF2-40B4-BE49-F238E27FC236}">
                  <a16:creationId xmlns:a16="http://schemas.microsoft.com/office/drawing/2014/main" id="{45E917E1-D971-4B82-B3DB-3E4172F341F8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4" name="燕尾形 5">
              <a:extLst>
                <a:ext uri="{FF2B5EF4-FFF2-40B4-BE49-F238E27FC236}">
                  <a16:creationId xmlns:a16="http://schemas.microsoft.com/office/drawing/2014/main" id="{91F42179-6D17-479B-B67F-1D1E444D0E9A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5" name="燕尾形 5">
              <a:extLst>
                <a:ext uri="{FF2B5EF4-FFF2-40B4-BE49-F238E27FC236}">
                  <a16:creationId xmlns:a16="http://schemas.microsoft.com/office/drawing/2014/main" id="{0F439E36-6AF6-4BE7-832A-413E52345041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022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确定性预报：逐变量分析（续）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首个超越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operational IFS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精度的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气象预报方法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D7EF8D-2250-4FA9-92A1-192C1B8A717D}"/>
                  </a:ext>
                </a:extLst>
              </p:cNvPr>
              <p:cNvSpPr/>
              <p:nvPr/>
            </p:nvSpPr>
            <p:spPr>
              <a:xfrm>
                <a:off x="468000" y="1080000"/>
                <a:ext cx="4320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T2M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变量，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IFS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天预报均方根误差（单位：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𝐾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）分别为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.34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1.75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，而盘古的相应误差为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1.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5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（减少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）和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1.53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（减少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3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U10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变量，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IFS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天预报均方根误差（单位：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/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）分别为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1.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94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2.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90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，而盘古的相应误差为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1.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61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（减少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17%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53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（减少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13%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4D7EF8D-2250-4FA9-92A1-192C1B8A7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4320000" cy="5184000"/>
              </a:xfrm>
              <a:prstGeom prst="rect">
                <a:avLst/>
              </a:prstGeom>
              <a:blipFill>
                <a:blip r:embed="rId3"/>
                <a:stretch>
                  <a:fillRect r="-114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356004D1-25C8-4AA8-B550-E4A0432CB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00" y="1584000"/>
            <a:ext cx="7200000" cy="540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4C1507D1-1543-4973-9B63-8592077B34C5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1" name="燕尾形 3">
              <a:extLst>
                <a:ext uri="{FF2B5EF4-FFF2-40B4-BE49-F238E27FC236}">
                  <a16:creationId xmlns:a16="http://schemas.microsoft.com/office/drawing/2014/main" id="{68B6E388-32FF-4555-8484-EAF0F07219BA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2" name="燕尾形 4">
              <a:extLst>
                <a:ext uri="{FF2B5EF4-FFF2-40B4-BE49-F238E27FC236}">
                  <a16:creationId xmlns:a16="http://schemas.microsoft.com/office/drawing/2014/main" id="{1DC0EDE1-312F-4DD3-9A6B-4E4AE864D840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19AF5B0A-B2F0-4B8E-ABBD-1FC8A4A48151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4" name="燕尾形 5">
              <a:extLst>
                <a:ext uri="{FF2B5EF4-FFF2-40B4-BE49-F238E27FC236}">
                  <a16:creationId xmlns:a16="http://schemas.microsoft.com/office/drawing/2014/main" id="{C1593FD4-B26C-45E0-A5EC-2CBCFD86E15A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109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确定性预报：逐变量分析（续）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8000" y="1080000"/>
                <a:ext cx="11232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“预报时间增益”体现出的明显优势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定义：如盘古的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7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天（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168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小时）预报误差等价于另一个方法的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168−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小时预报误差，那么将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称为盘古相较于相应方法的“预报时间增益”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11232000" cy="5184000"/>
              </a:xfrm>
              <a:prstGeom prst="rect">
                <a:avLst/>
              </a:prstGeom>
              <a:blipFill>
                <a:blip r:embed="rId3"/>
                <a:stretch>
                  <a:fillRect l="-1792" t="-22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A46E33F-7D77-46F2-B194-3BACE0037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089832"/>
              </p:ext>
            </p:extLst>
          </p:nvPr>
        </p:nvGraphicFramePr>
        <p:xfrm>
          <a:off x="1946187" y="2520000"/>
          <a:ext cx="8275625" cy="40792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4223">
                  <a:extLst>
                    <a:ext uri="{9D8B030D-6E8A-4147-A177-3AD203B41FA5}">
                      <a16:colId xmlns:a16="http://schemas.microsoft.com/office/drawing/2014/main" val="1699046617"/>
                    </a:ext>
                  </a:extLst>
                </a:gridCol>
                <a:gridCol w="3215701">
                  <a:extLst>
                    <a:ext uri="{9D8B030D-6E8A-4147-A177-3AD203B41FA5}">
                      <a16:colId xmlns:a16="http://schemas.microsoft.com/office/drawing/2014/main" val="3307819476"/>
                    </a:ext>
                  </a:extLst>
                </a:gridCol>
                <a:gridCol w="3215701">
                  <a:extLst>
                    <a:ext uri="{9D8B030D-6E8A-4147-A177-3AD203B41FA5}">
                      <a16:colId xmlns:a16="http://schemas.microsoft.com/office/drawing/2014/main" val="3798078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变量名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相比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operational IFS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的增益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(h)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Corbel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相比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FourCastNet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的增益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</a:rPr>
                        <a:t> (h)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Corbel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01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Z500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10.45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43.23</a:t>
                      </a:r>
                      <a:endParaRPr lang="zh-CN" altLang="en-US" sz="1800" i="0" baseline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3052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T850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15.37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41.05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9594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T2M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18.19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43.11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5793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U10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19.68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43.81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909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V10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19.10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42.78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7717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Z850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10.62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N/A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76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T850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13.66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N/A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068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Q500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31.00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N/A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9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U500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17.52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N/A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48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Candara" panose="020E0502030303020204" pitchFamily="34" charset="0"/>
                        </a:rPr>
                        <a:t>V500</a:t>
                      </a:r>
                      <a:endParaRPr lang="zh-CN" altLang="en-US" sz="180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16.16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i="0" dirty="0">
                          <a:latin typeface="Candara" panose="020E0502030303020204" pitchFamily="34" charset="0"/>
                        </a:rPr>
                        <a:t>N/A</a:t>
                      </a:r>
                      <a:endParaRPr lang="zh-CN" altLang="en-US" sz="1800" i="0" dirty="0"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518534"/>
                  </a:ext>
                </a:extLst>
              </a:tr>
            </a:tbl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2878A407-5E06-440E-8651-A83639512AB5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1" name="燕尾形 3">
              <a:extLst>
                <a:ext uri="{FF2B5EF4-FFF2-40B4-BE49-F238E27FC236}">
                  <a16:creationId xmlns:a16="http://schemas.microsoft.com/office/drawing/2014/main" id="{A50A3DFA-E567-4F32-94A0-27896C52CAD4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2" name="燕尾形 4">
              <a:extLst>
                <a:ext uri="{FF2B5EF4-FFF2-40B4-BE49-F238E27FC236}">
                  <a16:creationId xmlns:a16="http://schemas.microsoft.com/office/drawing/2014/main" id="{C61ECA44-0214-44D4-9577-A83704E726D7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FBB14462-055B-4875-953E-EA999E0534AE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4" name="燕尾形 5">
              <a:extLst>
                <a:ext uri="{FF2B5EF4-FFF2-40B4-BE49-F238E27FC236}">
                  <a16:creationId xmlns:a16="http://schemas.microsoft.com/office/drawing/2014/main" id="{BCF35648-B0FD-41DD-84DA-C5D98F2A472C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97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确定性预报：逐区域分析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8000" y="1080000"/>
                <a:ext cx="5760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北半球区域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维度在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20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（不含）和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9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（含）之间的区域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5760000" cy="5184000"/>
              </a:xfrm>
              <a:prstGeom prst="rect">
                <a:avLst/>
              </a:prstGeom>
              <a:blipFill>
                <a:blip r:embed="rId3"/>
                <a:stretch>
                  <a:fillRect l="-3492" t="-2233" r="-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0F99F976-F719-432D-BB30-F86128BAC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0" y="1080000"/>
            <a:ext cx="5760000" cy="576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3C4E8C51-5644-4585-BD72-2FF1E5C2211B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8" name="燕尾形 3">
              <a:extLst>
                <a:ext uri="{FF2B5EF4-FFF2-40B4-BE49-F238E27FC236}">
                  <a16:creationId xmlns:a16="http://schemas.microsoft.com/office/drawing/2014/main" id="{35A3A072-92D9-4F6A-8698-BCFDED09F941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0" name="燕尾形 4">
              <a:extLst>
                <a:ext uri="{FF2B5EF4-FFF2-40B4-BE49-F238E27FC236}">
                  <a16:creationId xmlns:a16="http://schemas.microsoft.com/office/drawing/2014/main" id="{DF599291-C203-417A-837F-2D898D76F132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1025D9B9-DA1C-48C4-B872-0AF755979E0D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7CECEB91-0FCB-4EA8-BC90-7696C5177AD6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941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确定性预报：逐区域分析（续）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8000" y="1080000"/>
                <a:ext cx="5760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南半球区域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维度在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20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（不含）和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90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（含）之间的区域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5760000" cy="5184000"/>
              </a:xfrm>
              <a:prstGeom prst="rect">
                <a:avLst/>
              </a:prstGeom>
              <a:blipFill>
                <a:blip r:embed="rId3"/>
                <a:stretch>
                  <a:fillRect l="-3492" t="-2233" r="-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D3F42E0-10FD-4C7F-8AD3-2541433F1F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0" y="1080000"/>
            <a:ext cx="5760000" cy="576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5214AA1F-AE56-4697-B077-A10F151D67FB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0" name="燕尾形 3">
              <a:extLst>
                <a:ext uri="{FF2B5EF4-FFF2-40B4-BE49-F238E27FC236}">
                  <a16:creationId xmlns:a16="http://schemas.microsoft.com/office/drawing/2014/main" id="{B0020F2D-FDD0-46CE-8F75-0F01D60C37E4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1" name="燕尾形 4">
              <a:extLst>
                <a:ext uri="{FF2B5EF4-FFF2-40B4-BE49-F238E27FC236}">
                  <a16:creationId xmlns:a16="http://schemas.microsoft.com/office/drawing/2014/main" id="{A8D18E86-CF55-4B00-95AB-BB470E6D1AA4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6B5FB33A-E01C-4107-98CE-3175E1419F0D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6AC08E26-5C16-4C30-BFF4-C035659B2934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74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确定性预报：逐区域分析（续）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8000" y="1080000"/>
                <a:ext cx="5760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热带区域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维度在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20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（含）和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−2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（含）之间的区域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观测到相较于北半球和南半球区域更大的优势，对应于盘古在热带风暴追踪上的显著优势（见后）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5760000" cy="5184000"/>
              </a:xfrm>
              <a:prstGeom prst="rect">
                <a:avLst/>
              </a:prstGeom>
              <a:blipFill>
                <a:blip r:embed="rId3"/>
                <a:stretch>
                  <a:fillRect l="-3492" t="-2233" r="-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F7045708-768E-47BF-8EB4-818E93B81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0" y="1080000"/>
            <a:ext cx="5760000" cy="576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1C081591-7DB1-47A6-9642-3320CA42B383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8" name="燕尾形 3">
              <a:extLst>
                <a:ext uri="{FF2B5EF4-FFF2-40B4-BE49-F238E27FC236}">
                  <a16:creationId xmlns:a16="http://schemas.microsoft.com/office/drawing/2014/main" id="{4292E0D7-4FB6-4800-9150-F79B0207A189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0" name="燕尾形 4">
              <a:extLst>
                <a:ext uri="{FF2B5EF4-FFF2-40B4-BE49-F238E27FC236}">
                  <a16:creationId xmlns:a16="http://schemas.microsoft.com/office/drawing/2014/main" id="{E4ED6C95-486F-4FEA-A1A9-4D48EF590210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705EC96E-4BD8-41C3-AE7D-DE776F107701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5AFE4892-8AA1-4B81-A2C8-3E6DD15AAB6A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180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确定性预报：逐年分析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5760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对比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2018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2020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2021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年预报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盘古在不同年份的均方根误差和异常相关系数的趋势保持稳定，显示了盘古的稳定预报能力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175047-2B53-4A85-B9BE-117FEBF23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0" y="1080000"/>
            <a:ext cx="5760000" cy="576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63662352-8BC1-4586-A615-96892C6AA194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0" name="燕尾形 3">
              <a:extLst>
                <a:ext uri="{FF2B5EF4-FFF2-40B4-BE49-F238E27FC236}">
                  <a16:creationId xmlns:a16="http://schemas.microsoft.com/office/drawing/2014/main" id="{C759F761-505E-4E55-B0C7-5B1E74D2B0B3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1" name="燕尾形 4">
              <a:extLst>
                <a:ext uri="{FF2B5EF4-FFF2-40B4-BE49-F238E27FC236}">
                  <a16:creationId xmlns:a16="http://schemas.microsoft.com/office/drawing/2014/main" id="{935A81AA-9E7B-4D4C-98C0-9658DB0CD973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2334FB6E-88C8-4B52-88DD-5F9167F5FB38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9A30A7CE-5690-453A-9951-892215CF4C6B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369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确定性预报：可视化结果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与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ERA5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的真实值充分接近，但仍能观测出一些差异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盘古倾向于预测较为平滑的结果（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方法的普遍现象）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FBCDB0E-A27F-406A-AAFC-523D80CD16BF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CE0DC65E-AA2C-4657-B643-C83EE3A22B90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5D2EC2AA-E571-49BC-B6BF-7E9E56AB9A41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15382050-6270-41C7-B17E-70E2FDBD6457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33144CC7-EBF5-4BBF-8810-A594C01CBF73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EC90A4AE-A6B8-4E1B-96C5-5A72992C2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2016000"/>
            <a:ext cx="11520000" cy="43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3EDBE45-B298-42DD-92E4-C9FCAA9ECC83}"/>
              </a:ext>
            </a:extLst>
          </p:cNvPr>
          <p:cNvSpPr/>
          <p:nvPr/>
        </p:nvSpPr>
        <p:spPr>
          <a:xfrm>
            <a:off x="360000" y="6372000"/>
            <a:ext cx="1080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两个高空变量（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Z500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T850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）的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天预报结果的可视化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075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确定性预报：可视化结果（续）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与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ERA5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的真实值充分接近，但仍能观测出一些差异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盘古倾向于预测较为平滑的结果（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方法的普遍现象）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FBCDB0E-A27F-406A-AAFC-523D80CD16BF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CE0DC65E-AA2C-4657-B643-C83EE3A22B90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5D2EC2AA-E571-49BC-B6BF-7E9E56AB9A41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15382050-6270-41C7-B17E-70E2FDBD6457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33144CC7-EBF5-4BBF-8810-A594C01CBF73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3C89D81-4A04-4AE7-8764-81382CF71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2016000"/>
            <a:ext cx="11520000" cy="43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4CB80C0-EED7-4BD2-9631-4FA9AD1710D9}"/>
              </a:ext>
            </a:extLst>
          </p:cNvPr>
          <p:cNvSpPr/>
          <p:nvPr/>
        </p:nvSpPr>
        <p:spPr>
          <a:xfrm>
            <a:off x="360000" y="6372000"/>
            <a:ext cx="1080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两个地表变量（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T2M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U10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）的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天预报结果的可视化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81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集成预报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8000" y="1080000"/>
                <a:ext cx="3960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集成预报能够提升中长期预报精度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7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天预报，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Z500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变量的均方根误差从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500.3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减少至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450.6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（降低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U10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变量的均方根误差从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3.48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减少至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2.96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（降低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15%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同时，短期预报（如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天内）精度没有提升，有时还会略微下降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0" y="1080000"/>
                <a:ext cx="3960000" cy="5184000"/>
              </a:xfrm>
              <a:prstGeom prst="rect">
                <a:avLst/>
              </a:prstGeom>
              <a:blipFill>
                <a:blip r:embed="rId3"/>
                <a:stretch>
                  <a:fillRect l="-5085" t="-2115" r="-44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7FFAB37A-FCF0-408B-A551-78D6E5876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000" y="1080000"/>
            <a:ext cx="7560000" cy="504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951DAC9-EBC9-4115-B7A2-FFCD8216AFB5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0" name="燕尾形 3">
              <a:extLst>
                <a:ext uri="{FF2B5EF4-FFF2-40B4-BE49-F238E27FC236}">
                  <a16:creationId xmlns:a16="http://schemas.microsoft.com/office/drawing/2014/main" id="{9EC969A3-6DFD-465A-A8E5-B800E1CF99D3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1" name="燕尾形 4">
              <a:extLst>
                <a:ext uri="{FF2B5EF4-FFF2-40B4-BE49-F238E27FC236}">
                  <a16:creationId xmlns:a16="http://schemas.microsoft.com/office/drawing/2014/main" id="{556109A7-349E-4C7E-814B-5EAF494248F1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9815CEBA-A9ED-44F9-B715-1F405550E29F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86319F3D-2608-4DED-B79D-610ACCECA8E1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850834F7-48E6-455B-A976-1C7BB8681482}"/>
              </a:ext>
            </a:extLst>
          </p:cNvPr>
          <p:cNvSpPr/>
          <p:nvPr/>
        </p:nvSpPr>
        <p:spPr>
          <a:xfrm>
            <a:off x="4500000" y="6120000"/>
            <a:ext cx="75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100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个成员变量的集成预报结果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591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极端事件预报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观察相对分位数随预报时间的变化趋势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相较于数值方法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IFS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，盘古通常报告出更偏离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值的分位数，即更容易低估极端天气强度，这是因为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方法通常输出平滑解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956FBF-E781-4EE2-81F8-9C8618647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0" y="2520000"/>
            <a:ext cx="8640000" cy="43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0FF5624-CC1C-4649-A76D-CBD2466DF613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0" name="燕尾形 3">
              <a:extLst>
                <a:ext uri="{FF2B5EF4-FFF2-40B4-BE49-F238E27FC236}">
                  <a16:creationId xmlns:a16="http://schemas.microsoft.com/office/drawing/2014/main" id="{AFDBE836-C69C-4B40-997A-8DE2EAB8A322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1" name="燕尾形 4">
              <a:extLst>
                <a:ext uri="{FF2B5EF4-FFF2-40B4-BE49-F238E27FC236}">
                  <a16:creationId xmlns:a16="http://schemas.microsoft.com/office/drawing/2014/main" id="{913D204C-B162-4B7D-85EA-F08302FC510F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22DEB20F-55FD-4A37-9DBF-BCF132C039E0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04EB19ED-9A49-4863-ABA4-CC51BF50C8B9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794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极端事件预报（续）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盘古、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FourCastNet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operational IFS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的对比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方法（盘古和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FourCastNet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）倾向于低估极端事件强度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一个例外是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Q500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变量，盘古的精度显著高于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IFS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，因而低估程度较低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F348C1-7E2B-4DA6-8BC3-A37380D11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00" y="2520000"/>
            <a:ext cx="9720000" cy="43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DA412EC-D565-4DB0-8EBC-81AFB05541AF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8" name="燕尾形 3">
              <a:extLst>
                <a:ext uri="{FF2B5EF4-FFF2-40B4-BE49-F238E27FC236}">
                  <a16:creationId xmlns:a16="http://schemas.microsoft.com/office/drawing/2014/main" id="{3B51D913-04AF-476E-9A6C-B60C3E326C78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0" name="燕尾形 4">
              <a:extLst>
                <a:ext uri="{FF2B5EF4-FFF2-40B4-BE49-F238E27FC236}">
                  <a16:creationId xmlns:a16="http://schemas.microsoft.com/office/drawing/2014/main" id="{5AAB27D5-01E3-4AA6-8B8B-43C3772AFC9E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1" name="燕尾形 5">
              <a:extLst>
                <a:ext uri="{FF2B5EF4-FFF2-40B4-BE49-F238E27FC236}">
                  <a16:creationId xmlns:a16="http://schemas.microsoft.com/office/drawing/2014/main" id="{4C9FD5A9-B28B-491B-8063-B3B2079B4B11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C04566CD-9512-4E37-A563-17F5B4ECD07E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336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热带风暴路径追踪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7999" y="1080000"/>
                <a:ext cx="6120000" cy="518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marL="360000" indent="-3600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采用经典追踪算法</a:t>
                </a:r>
                <a:r>
                  <a:rPr lang="en-US" altLang="zh-CN" sz="2800" b="1" baseline="300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[A]</a:t>
                </a:r>
                <a:endParaRPr lang="en-US" altLang="zh-CN" sz="2800" b="1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给定起报时间和初始台风位置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900000" lvl="1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给定预报时间（如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6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小时），在预测的平均海面气压中寻找当前位置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445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公里内的极小值，同时满足：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1260000" lvl="2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在以该位置为中心，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278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公里为半径的范围内存在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850hPa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旋度极大值，且该旋度的绝对值大于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5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1260000" lvl="2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在以该位置为中心，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278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公里为半径的范围内存在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850hPa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200hPa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之间的厚度极大值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  <a:p>
                <a:pPr marL="1260000" lvl="2" indent="-36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当台风在陆地上时，在以该位置为中心，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278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公里为半径的范围内，最大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米风速超过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米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Candara" panose="020E0502030303020204" pitchFamily="34" charset="0"/>
                    <a:ea typeface="微软雅黑" panose="020B0503020204020204" pitchFamily="34" charset="-122"/>
                  </a:rPr>
                  <a:t>秒</a:t>
                </a:r>
                <a:endParaRPr lang="en-US" altLang="zh-CN" sz="2400" dirty="0">
                  <a:solidFill>
                    <a:schemeClr val="tx1"/>
                  </a:solidFill>
                  <a:latin typeface="Candara" panose="020E0502030303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99" y="1080000"/>
                <a:ext cx="6120000" cy="5184000"/>
              </a:xfrm>
              <a:prstGeom prst="rect">
                <a:avLst/>
              </a:prstGeom>
              <a:blipFill>
                <a:blip r:embed="rId3"/>
                <a:stretch>
                  <a:fillRect l="-3287" t="-2233" r="-797" b="-109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67119A03-E1D7-4A63-8226-60D97505D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000" y="1080000"/>
            <a:ext cx="5400000" cy="43199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8AD0206-3D5F-4D94-8F67-4EAD163DFC4E}"/>
              </a:ext>
            </a:extLst>
          </p:cNvPr>
          <p:cNvSpPr/>
          <p:nvPr/>
        </p:nvSpPr>
        <p:spPr>
          <a:xfrm>
            <a:off x="6660000" y="6588000"/>
            <a:ext cx="532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P. White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Newsletter No. 102 – Winter 2004/05, by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ECMWF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2005.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2E29D2-BCB2-4924-A1CE-F7AB78F48CF3}"/>
              </a:ext>
            </a:extLst>
          </p:cNvPr>
          <p:cNvSpPr/>
          <p:nvPr/>
        </p:nvSpPr>
        <p:spPr>
          <a:xfrm>
            <a:off x="6660000" y="5400000"/>
            <a:ext cx="540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两个路径追踪实例（包括平均海面气压、旋度、厚度、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米风的可视化），分布对应于飓风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Michael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2018-13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）和台风马鞍（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2022-09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）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7E93FF3-A57E-44E9-B0D8-FE2125DE6162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1" name="燕尾形 3">
              <a:extLst>
                <a:ext uri="{FF2B5EF4-FFF2-40B4-BE49-F238E27FC236}">
                  <a16:creationId xmlns:a16="http://schemas.microsoft.com/office/drawing/2014/main" id="{9F3C4DBF-309A-4A1E-A42D-C732B78975A1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2" name="燕尾形 4">
              <a:extLst>
                <a:ext uri="{FF2B5EF4-FFF2-40B4-BE49-F238E27FC236}">
                  <a16:creationId xmlns:a16="http://schemas.microsoft.com/office/drawing/2014/main" id="{75D56984-F30C-479C-9AD1-CCD7FB06835B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8CF2AED8-1319-4DF5-8EAA-9D17100ACCF5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4" name="燕尾形 5">
              <a:extLst>
                <a:ext uri="{FF2B5EF4-FFF2-40B4-BE49-F238E27FC236}">
                  <a16:creationId xmlns:a16="http://schemas.microsoft.com/office/drawing/2014/main" id="{BA4AC92A-63FF-449F-8549-9AB6C6A2C523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898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热带风暴路径追踪（续）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7200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2018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年的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88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个命名台风上，追踪精度更高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随着预报时间的增加，相较于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IFS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的优势更明显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在不同区域、不同强度的子集上都有优势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0E99D4-D714-4B59-B7BC-7BD140A69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0" y="2880000"/>
            <a:ext cx="4320000" cy="360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63A038-1763-4906-8187-BC683B86C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000" y="1080000"/>
            <a:ext cx="4320000" cy="540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A6024EF2-7B56-4F57-8E68-69F94614159C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0" name="燕尾形 3">
              <a:extLst>
                <a:ext uri="{FF2B5EF4-FFF2-40B4-BE49-F238E27FC236}">
                  <a16:creationId xmlns:a16="http://schemas.microsoft.com/office/drawing/2014/main" id="{00E1D657-0D40-4357-AA89-C3F4EF55EDFC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1" name="燕尾形 4">
              <a:extLst>
                <a:ext uri="{FF2B5EF4-FFF2-40B4-BE49-F238E27FC236}">
                  <a16:creationId xmlns:a16="http://schemas.microsoft.com/office/drawing/2014/main" id="{74486FE0-E4B8-4313-9EF8-F7E40824B422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5D52E340-20DB-4208-B62B-184F84514301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7F3BF3CA-2EE8-461A-BC25-729540CFC8A5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AF82F79B-CB95-407B-8703-E367C01EF004}"/>
              </a:ext>
            </a:extLst>
          </p:cNvPr>
          <p:cNvSpPr/>
          <p:nvPr/>
        </p:nvSpPr>
        <p:spPr>
          <a:xfrm>
            <a:off x="2880000" y="6480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Overall errors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D3E55D-75C2-463F-B1C4-E299F1EF9CE2}"/>
              </a:ext>
            </a:extLst>
          </p:cNvPr>
          <p:cNvSpPr/>
          <p:nvPr/>
        </p:nvSpPr>
        <p:spPr>
          <a:xfrm>
            <a:off x="7740000" y="6480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Errors in different subsets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356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热带风暴路径追踪（续）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两个例子：台风康妮（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2018-25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）和台风玉兔（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2018-26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2018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年西太平洋最强的两个台风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盘古模型的路径追踪结果，显著超越了欧洲气象中心的高精度预报系统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这可能与之前观察到的盘古模型在热带地区的预报精度优势有关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D6357F-DA5F-44D0-9B44-D3CD2D393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3024000"/>
            <a:ext cx="5400000" cy="360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98C218E-3118-4C7C-ABDB-3C237AC10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00" y="3024000"/>
            <a:ext cx="5400000" cy="360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A2DE1044-8BED-4642-B3AC-70558AB10250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0" name="燕尾形 3">
              <a:extLst>
                <a:ext uri="{FF2B5EF4-FFF2-40B4-BE49-F238E27FC236}">
                  <a16:creationId xmlns:a16="http://schemas.microsoft.com/office/drawing/2014/main" id="{328CB6C4-B820-41C4-A903-B4796C6EC7F0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1" name="燕尾形 4">
              <a:extLst>
                <a:ext uri="{FF2B5EF4-FFF2-40B4-BE49-F238E27FC236}">
                  <a16:creationId xmlns:a16="http://schemas.microsoft.com/office/drawing/2014/main" id="{D039CE52-7B22-41A4-B47C-2C2D8940A2F2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2" name="燕尾形 5">
              <a:extLst>
                <a:ext uri="{FF2B5EF4-FFF2-40B4-BE49-F238E27FC236}">
                  <a16:creationId xmlns:a16="http://schemas.microsoft.com/office/drawing/2014/main" id="{DE817CEA-7C30-4244-977C-0C9521771A53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3" name="燕尾形 5">
              <a:extLst>
                <a:ext uri="{FF2B5EF4-FFF2-40B4-BE49-F238E27FC236}">
                  <a16:creationId xmlns:a16="http://schemas.microsoft.com/office/drawing/2014/main" id="{2D64B1E4-6D15-4D94-BA73-62EA0B05F32B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807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盘古模型展现了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算法在数值气象预报领域的巨大潜力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盘古是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首个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在再分析数据上超越了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operational IFS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预报算法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然而，距离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算法“取代”传统数值方法，仍有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很长的路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要走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盘古的核心思想：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深度神经网络，结合少量对气象预报有益的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先验</a:t>
            </a:r>
            <a:endParaRPr lang="en-US" altLang="zh-CN" sz="2400" b="1" dirty="0">
              <a:solidFill>
                <a:srgbClr val="C00000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可以预期，结合更多气象知识的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算法将展现更强能力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实验结果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盘古在再分析数据上取得了更高预报精度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初步实验表明，即使使用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IFS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零场作为输入，仍能取得超越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IFS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的精度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相较于传统数值预报方法，推理速度提升了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4–5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个数量级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在极端气象过程（如热带风暴）的预报中取得了有前景的结果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1260000" lvl="2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这表明，在全球气象数据上训练的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模型，能够适应不同预报场景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A221FA2-C51B-439B-B79A-14B14E413AD2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0AF24637-356D-4497-B525-35770E603D68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E0A6CED9-9B5D-4009-A7DD-771D04157937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3537B3FD-7417-4FF2-BDBA-011B8F09647D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0" name="燕尾形 5">
              <a:extLst>
                <a:ext uri="{FF2B5EF4-FFF2-40B4-BE49-F238E27FC236}">
                  <a16:creationId xmlns:a16="http://schemas.microsoft.com/office/drawing/2014/main" id="{125D5E9F-FCD3-43CD-A404-E0914AAD1EBF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5889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展望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数值气象预报的未来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更多的数据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例：具有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更高时空分辨率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的再分析数据（如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ERA6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完整的观测和预报数据，以促进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端到端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的气象预报算法</a:t>
            </a:r>
            <a:endParaRPr lang="en-US" altLang="zh-CN" sz="2400" b="1" dirty="0">
              <a:solidFill>
                <a:srgbClr val="C00000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更强的模型（需要更强的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硬件）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更深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更宽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的神经网络，在气象数据上训练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更长时间</a:t>
            </a:r>
            <a:endParaRPr lang="en-US" altLang="zh-CN" sz="2400" b="1" dirty="0">
              <a:solidFill>
                <a:srgbClr val="C00000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从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3D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神经网络到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4D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神经网络：将时间轴引入神经网络本身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更合理的评价指标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均方根误差和异常相关系数在中长期预报中有较强的局限性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为了进一步提升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算法的能力，亟需更合理的评价指标（如抑制平滑解）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838704A-C3C6-415C-8984-C6817EF128CE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2" name="燕尾形 3">
              <a:extLst>
                <a:ext uri="{FF2B5EF4-FFF2-40B4-BE49-F238E27FC236}">
                  <a16:creationId xmlns:a16="http://schemas.microsoft.com/office/drawing/2014/main" id="{B53EC121-1B12-4DA6-9265-D647452D5171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3" name="燕尾形 4">
              <a:extLst>
                <a:ext uri="{FF2B5EF4-FFF2-40B4-BE49-F238E27FC236}">
                  <a16:creationId xmlns:a16="http://schemas.microsoft.com/office/drawing/2014/main" id="{4768B265-3F8A-4268-A827-A9F75D2D967A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4" name="燕尾形 5">
              <a:extLst>
                <a:ext uri="{FF2B5EF4-FFF2-40B4-BE49-F238E27FC236}">
                  <a16:creationId xmlns:a16="http://schemas.microsoft.com/office/drawing/2014/main" id="{75124F05-2C50-4BEA-8A8C-D027121F67D9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5" name="燕尾形 5">
              <a:extLst>
                <a:ext uri="{FF2B5EF4-FFF2-40B4-BE49-F238E27FC236}">
                  <a16:creationId xmlns:a16="http://schemas.microsoft.com/office/drawing/2014/main" id="{031E2C59-9147-4D9E-9086-150D0153E03D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50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盘古气象论文被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《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自然</a:t>
            </a:r>
            <a:r>
              <a:rPr lang="en-US" altLang="zh-CN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》</a:t>
            </a:r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正刊接收</a:t>
            </a:r>
            <a:r>
              <a:rPr lang="en-US" altLang="zh-CN" sz="3600" b="1" baseline="30000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[A]</a:t>
            </a:r>
            <a:endParaRPr lang="zh-CN" altLang="en-US" sz="3600" b="1" dirty="0">
              <a:solidFill>
                <a:schemeClr val="tx1"/>
              </a:solidFill>
              <a:latin typeface="Corbel" panose="020B05030202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审稿人一直赞同本工作的贡献和未来潜力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817240" lvl="1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审稿人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（德国尤利希研究中心教授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Martin Schultz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）：“我相信论文为气象预报领域做出了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重要贡献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，而且它在科学上和技术上都是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合理的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。”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817240" lvl="1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审稿人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（欧洲气象中心机器学习协调员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Matthew Chantry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）：“论文的结果在之前的结果上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迈出了重要一步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。在我看来，这项工作将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使人们重新评估未来的预测模型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。”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817240" lvl="1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审稿人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（美国科罗拉多州立大学教授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Imme Ebert-Uphoff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）：“我们小组确认下载和运行盘古模型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非常容易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。我们只花了一个下午的时间就让它工作起来，甚至在台式电脑上也能快速执行。这意味着气象界的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任何人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现在都可以根据自己的意愿运行和测试这些模型。对于研究社区来说，这是一个很好的机会来探索该模型对特定气象现象的预测效果。这将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有助于该领域的进展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。”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4A83DCC-7D52-4238-9062-DE6E078C783F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E007C54D-BD50-4093-874C-9E4FB91D0ED9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051912B1-FC63-46A7-9D7E-9F8DFD88D5B5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A71D4A5C-DDDF-46E6-A823-8933EF23A162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8" name="燕尾形 5">
              <a:extLst>
                <a:ext uri="{FF2B5EF4-FFF2-40B4-BE49-F238E27FC236}">
                  <a16:creationId xmlns:a16="http://schemas.microsoft.com/office/drawing/2014/main" id="{F2F918AC-156D-4C76-BB44-E7CF11D7EA54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023C9E3D-8017-40D2-83B0-9666D0B2DEF7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K. Bi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Accurate Medium-range Global Weather Forecasting with 3D Neural Networks, in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Nature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2023.</a:t>
            </a:r>
          </a:p>
        </p:txBody>
      </p:sp>
    </p:spTree>
    <p:extLst>
      <p:ext uri="{BB962C8B-B14F-4D97-AF65-F5344CB8AC3E}">
        <p14:creationId xmlns:p14="http://schemas.microsoft.com/office/powerpoint/2010/main" val="2404366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盘古模型已经开源开放</a:t>
            </a:r>
            <a:r>
              <a:rPr lang="en-US" altLang="zh-CN" sz="3600" b="1" baseline="30000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[A]</a:t>
            </a:r>
            <a:endParaRPr lang="zh-CN" altLang="en-US" sz="3600" b="1" dirty="0">
              <a:solidFill>
                <a:schemeClr val="tx1"/>
              </a:solidFill>
              <a:latin typeface="Corbel" panose="020B05030202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7200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欧洲气象中心测试了盘古模型并且提供了测试报告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结果很有前景，我们相信这代表着“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数据驱动的气象预报方法的崛起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”</a:t>
            </a:r>
            <a:r>
              <a:rPr lang="en-US" altLang="zh-CN" sz="2400" baseline="300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[B]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“我们在欧洲气象中心</a:t>
            </a:r>
            <a:r>
              <a:rPr lang="zh-CN" altLang="en-US" sz="2400" b="1" dirty="0">
                <a:solidFill>
                  <a:srgbClr val="C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很方便地测试了盘古气象模型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，以了解机器学习方法的潜在能力。为了让它更方便运行，我们开发了一个工具</a:t>
            </a:r>
            <a:r>
              <a:rPr lang="en-US" altLang="zh-CN" sz="2400" baseline="300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[C]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，从我们的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CDS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库抽取必要数据，用于测试盘古气象模型（以及其他模型），并且将模型的输出存储为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GRIB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格式。”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CC3235-D45F-4F3F-B5F1-3A47452378D5}"/>
              </a:ext>
            </a:extLst>
          </p:cNvPr>
          <p:cNvSpPr/>
          <p:nvPr/>
        </p:nvSpPr>
        <p:spPr>
          <a:xfrm>
            <a:off x="1259999" y="6588000"/>
            <a:ext cx="6300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  <a:hlinkClick r:id="rId3"/>
              </a:rPr>
              <a:t>https://github.com/198808xc/Pangu-Weather</a:t>
            </a:r>
            <a:endParaRPr lang="en-US" altLang="zh-CN" sz="1600" dirty="0">
              <a:solidFill>
                <a:srgbClr val="1D1D1A"/>
              </a:solidFill>
              <a:latin typeface="Candara" panose="020E0502030303020204" pitchFamily="34" charset="0"/>
              <a:ea typeface="华文中宋" panose="0201060004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[B] </a:t>
            </a:r>
            <a:r>
              <a:rPr lang="en-US" altLang="zh-CN" sz="1600" b="1" dirty="0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Z. Ben-</a:t>
            </a:r>
            <a:r>
              <a:rPr lang="en-US" altLang="zh-CN" sz="1600" b="1" dirty="0" err="1">
                <a:solidFill>
                  <a:srgbClr val="00B0F0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Bouallegue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et al.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The Rise of Data-driven Weather Forecasting, in </a:t>
            </a:r>
            <a:r>
              <a:rPr lang="en-US" altLang="zh-CN" sz="1600" i="1" dirty="0" err="1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arXiv</a:t>
            </a:r>
            <a:r>
              <a:rPr lang="en-US" altLang="zh-CN" sz="1600" i="1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 preprint:2307.10128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, 2023.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[C] 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  <a:hlinkClick r:id="rId4"/>
              </a:rPr>
              <a:t>https://github.com/ecmwf-lab/ai-models-panguweather</a:t>
            </a:r>
            <a:endParaRPr lang="en-US" altLang="zh-CN" sz="1600" dirty="0">
              <a:solidFill>
                <a:srgbClr val="1D1D1A"/>
              </a:solidFill>
              <a:latin typeface="Candara" panose="020E0502030303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782A136-3616-482E-A191-254613378106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6" name="燕尾形 3">
              <a:extLst>
                <a:ext uri="{FF2B5EF4-FFF2-40B4-BE49-F238E27FC236}">
                  <a16:creationId xmlns:a16="http://schemas.microsoft.com/office/drawing/2014/main" id="{5BB2C813-6694-4ADC-9C67-B36CDCE0BC3F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7" name="燕尾形 4">
              <a:extLst>
                <a:ext uri="{FF2B5EF4-FFF2-40B4-BE49-F238E27FC236}">
                  <a16:creationId xmlns:a16="http://schemas.microsoft.com/office/drawing/2014/main" id="{DD66982A-6D81-4E4A-80FF-756EAC8EAFA7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8" name="燕尾形 5">
              <a:extLst>
                <a:ext uri="{FF2B5EF4-FFF2-40B4-BE49-F238E27FC236}">
                  <a16:creationId xmlns:a16="http://schemas.microsoft.com/office/drawing/2014/main" id="{3C62F106-EA43-4C64-90A4-6DBC895EE9B2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9" name="燕尾形 5">
              <a:extLst>
                <a:ext uri="{FF2B5EF4-FFF2-40B4-BE49-F238E27FC236}">
                  <a16:creationId xmlns:a16="http://schemas.microsoft.com/office/drawing/2014/main" id="{BF0066BB-ED3E-4CE9-A174-7B61B754F752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C77BBA0-F5A0-4D57-B88E-ADBE5499D02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000" y="1080000"/>
            <a:ext cx="4320000" cy="24296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5342E5F-CCB0-4476-A07F-70355C54D42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000" y="3960000"/>
            <a:ext cx="4320000" cy="24296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F094DECF-85CE-4A0F-B595-FB9ECD552170}"/>
              </a:ext>
            </a:extLst>
          </p:cNvPr>
          <p:cNvSpPr/>
          <p:nvPr/>
        </p:nvSpPr>
        <p:spPr>
          <a:xfrm>
            <a:off x="7740000" y="3528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预报一般气象变量的能力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C65C1F-BEB7-4C0E-B92A-CA4D9A1C77C2}"/>
              </a:ext>
            </a:extLst>
          </p:cNvPr>
          <p:cNvSpPr/>
          <p:nvPr/>
        </p:nvSpPr>
        <p:spPr>
          <a:xfrm>
            <a:off x="7740000" y="6408000"/>
            <a:ext cx="432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预报冬季风暴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Friederike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的结果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019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欧洲气象中心上线盘古预测结果</a:t>
            </a:r>
            <a:r>
              <a:rPr lang="en-US" altLang="zh-CN" sz="3600" b="1" baseline="30000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[A]</a:t>
            </a:r>
            <a:endParaRPr lang="zh-CN" altLang="en-US" sz="3600" b="1" dirty="0">
              <a:solidFill>
                <a:schemeClr val="tx1"/>
              </a:solidFill>
              <a:latin typeface="Corbel" panose="020B05030202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从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2023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月起，欧洲气象中心将盘古模型作为常规预报发布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ECMWF Charts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网站搜索“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PANGU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”即可</a:t>
            </a:r>
            <a:r>
              <a:rPr lang="en-US" altLang="zh-CN" sz="2400" baseline="300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[B]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选择感兴趣的气象变量（如选择平均海面气压以追踪热带风暴路径）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90000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选择相应的区域和起报时间，即可看到盘古模型的预报结果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CC3235-D45F-4F3F-B5F1-3A47452378D5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  <a:hlinkClick r:id="rId3"/>
              </a:rPr>
              <a:t>https://charts.ecmwf.int/</a:t>
            </a:r>
            <a:endParaRPr lang="en-US" altLang="zh-CN" sz="1600" dirty="0">
              <a:solidFill>
                <a:srgbClr val="1D1D1A"/>
              </a:solidFill>
              <a:latin typeface="Candara" panose="020E0502030303020204" pitchFamily="34" charset="0"/>
              <a:ea typeface="华文中宋" panose="0201060004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[B] 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  <a:hlinkClick r:id="rId4"/>
              </a:rPr>
              <a:t>https://charts.ecmwf.int/?query=PANGU</a:t>
            </a:r>
            <a:endParaRPr lang="en-US" altLang="zh-CN" sz="1600" dirty="0">
              <a:solidFill>
                <a:srgbClr val="1D1D1A"/>
              </a:solidFill>
              <a:latin typeface="Candara" panose="020E050203030302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782A136-3616-482E-A191-254613378106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16" name="燕尾形 3">
              <a:extLst>
                <a:ext uri="{FF2B5EF4-FFF2-40B4-BE49-F238E27FC236}">
                  <a16:creationId xmlns:a16="http://schemas.microsoft.com/office/drawing/2014/main" id="{5BB2C813-6694-4ADC-9C67-B36CDCE0BC3F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17" name="燕尾形 4">
              <a:extLst>
                <a:ext uri="{FF2B5EF4-FFF2-40B4-BE49-F238E27FC236}">
                  <a16:creationId xmlns:a16="http://schemas.microsoft.com/office/drawing/2014/main" id="{DD66982A-6D81-4E4A-80FF-756EAC8EAFA7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18" name="燕尾形 5">
              <a:extLst>
                <a:ext uri="{FF2B5EF4-FFF2-40B4-BE49-F238E27FC236}">
                  <a16:creationId xmlns:a16="http://schemas.microsoft.com/office/drawing/2014/main" id="{3C62F106-EA43-4C64-90A4-6DBC895EE9B2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9" name="燕尾形 5">
              <a:extLst>
                <a:ext uri="{FF2B5EF4-FFF2-40B4-BE49-F238E27FC236}">
                  <a16:creationId xmlns:a16="http://schemas.microsoft.com/office/drawing/2014/main" id="{BF0066BB-ED3E-4CE9-A174-7B61B754F752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000" y="3024000"/>
            <a:ext cx="5760000" cy="2685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" y="3024000"/>
            <a:ext cx="5760000" cy="2685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69C65C1F-BEB7-4C0E-B92A-CA4D9A1C77C2}"/>
              </a:ext>
            </a:extLst>
          </p:cNvPr>
          <p:cNvSpPr/>
          <p:nvPr/>
        </p:nvSpPr>
        <p:spPr>
          <a:xfrm>
            <a:off x="216000" y="5760000"/>
            <a:ext cx="57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ECMWF Charts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主页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C65C1F-BEB7-4C0E-B92A-CA4D9A1C77C2}"/>
              </a:ext>
            </a:extLst>
          </p:cNvPr>
          <p:cNvSpPr/>
          <p:nvPr/>
        </p:nvSpPr>
        <p:spPr>
          <a:xfrm>
            <a:off x="6264000" y="5760000"/>
            <a:ext cx="576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平均海面气压和</a:t>
            </a:r>
            <a:r>
              <a:rPr lang="en-US" altLang="zh-CN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850hPa</a:t>
            </a:r>
            <a:r>
              <a:rPr lang="zh-CN" altLang="en-US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风速的可视化结果</a:t>
            </a:r>
            <a:endParaRPr lang="zh-CN" altLang="en-US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597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盘古气象大模型的轻量级版本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360000" indent="-3600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仅仅使用约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1%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的计算开销，也可达到接近</a:t>
            </a:r>
            <a:r>
              <a:rPr lang="en-US" altLang="zh-CN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operational IFS</a:t>
            </a:r>
            <a:r>
              <a:rPr lang="zh-CN" altLang="en-US" sz="2800" b="1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的精度</a:t>
            </a:r>
            <a:endParaRPr lang="en-US" altLang="zh-CN" sz="2800" b="1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81724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策略：使用更少的训练数据（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年而非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39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年、每天采样而非每小时采样，从而只需要不到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1TB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的训练数据），训练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代或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代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81724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使用更轻量级的网络结构（更重的下采样）</a:t>
            </a:r>
            <a:endParaRPr lang="en-US" altLang="zh-CN" sz="2400" dirty="0">
              <a:solidFill>
                <a:schemeClr val="tx1"/>
              </a:solidFill>
              <a:latin typeface="Candara" panose="020E0502030303020204" pitchFamily="34" charset="0"/>
              <a:ea typeface="微软雅黑" panose="020B0503020204020204" pitchFamily="34" charset="-122"/>
            </a:endParaRPr>
          </a:p>
          <a:p>
            <a:pPr marL="817240" lvl="1" indent="-36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我们在</a:t>
            </a:r>
            <a:r>
              <a:rPr lang="en-US" altLang="zh-CN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GitHub</a:t>
            </a:r>
            <a:r>
              <a:rPr lang="zh-CN" altLang="en-US" sz="24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上发布了训练细节</a:t>
            </a:r>
            <a:r>
              <a:rPr lang="en-US" altLang="zh-CN" sz="2400" baseline="30000" dirty="0">
                <a:solidFill>
                  <a:schemeClr val="tx1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[A]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4A83DCC-7D52-4238-9062-DE6E078C783F}"/>
              </a:ext>
            </a:extLst>
          </p:cNvPr>
          <p:cNvGrpSpPr/>
          <p:nvPr/>
        </p:nvGrpSpPr>
        <p:grpSpPr>
          <a:xfrm>
            <a:off x="9036000" y="144000"/>
            <a:ext cx="3132000" cy="432000"/>
            <a:chOff x="9144000" y="36000"/>
            <a:chExt cx="3132000" cy="432000"/>
          </a:xfrm>
        </p:grpSpPr>
        <p:sp>
          <p:nvSpPr>
            <p:cNvPr id="5" name="燕尾形 3">
              <a:extLst>
                <a:ext uri="{FF2B5EF4-FFF2-40B4-BE49-F238E27FC236}">
                  <a16:creationId xmlns:a16="http://schemas.microsoft.com/office/drawing/2014/main" id="{E007C54D-BD50-4093-874C-9E4FB91D0ED9}"/>
                </a:ext>
              </a:extLst>
            </p:cNvPr>
            <p:cNvSpPr/>
            <p:nvPr/>
          </p:nvSpPr>
          <p:spPr>
            <a:xfrm>
              <a:off x="9144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背景</a:t>
              </a:r>
            </a:p>
          </p:txBody>
        </p:sp>
        <p:sp>
          <p:nvSpPr>
            <p:cNvPr id="6" name="燕尾形 4">
              <a:extLst>
                <a:ext uri="{FF2B5EF4-FFF2-40B4-BE49-F238E27FC236}">
                  <a16:creationId xmlns:a16="http://schemas.microsoft.com/office/drawing/2014/main" id="{051912B1-FC63-46A7-9D7E-9F8DFD88D5B5}"/>
                </a:ext>
              </a:extLst>
            </p:cNvPr>
            <p:cNvSpPr/>
            <p:nvPr/>
          </p:nvSpPr>
          <p:spPr>
            <a:xfrm>
              <a:off x="9900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方法</a:t>
              </a:r>
            </a:p>
          </p:txBody>
        </p:sp>
        <p:sp>
          <p:nvSpPr>
            <p:cNvPr id="8" name="燕尾形 5">
              <a:extLst>
                <a:ext uri="{FF2B5EF4-FFF2-40B4-BE49-F238E27FC236}">
                  <a16:creationId xmlns:a16="http://schemas.microsoft.com/office/drawing/2014/main" id="{A71D4A5C-DDDF-46E6-A823-8933EF23A162}"/>
                </a:ext>
              </a:extLst>
            </p:cNvPr>
            <p:cNvSpPr/>
            <p:nvPr/>
          </p:nvSpPr>
          <p:spPr>
            <a:xfrm>
              <a:off x="10656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实验</a:t>
              </a:r>
            </a:p>
          </p:txBody>
        </p:sp>
        <p:sp>
          <p:nvSpPr>
            <p:cNvPr id="18" name="燕尾形 5">
              <a:extLst>
                <a:ext uri="{FF2B5EF4-FFF2-40B4-BE49-F238E27FC236}">
                  <a16:creationId xmlns:a16="http://schemas.microsoft.com/office/drawing/2014/main" id="{F2F918AC-156D-4C76-BB44-E7CF11D7EA54}"/>
                </a:ext>
              </a:extLst>
            </p:cNvPr>
            <p:cNvSpPr/>
            <p:nvPr/>
          </p:nvSpPr>
          <p:spPr>
            <a:xfrm>
              <a:off x="11412000" y="36000"/>
              <a:ext cx="864000" cy="432000"/>
            </a:xfrm>
            <a:prstGeom prst="chevron">
              <a:avLst>
                <a:gd name="adj" fmla="val 34713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Calisto MT" panose="02040603050505030304" pitchFamily="18" charset="0"/>
                  <a:ea typeface="华文新魏" panose="02010800040101010101" pitchFamily="2" charset="-122"/>
                </a:rPr>
                <a:t>展望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023C9E3D-8017-40D2-83B0-9666D0B2DEF7}"/>
              </a:ext>
            </a:extLst>
          </p:cNvPr>
          <p:cNvSpPr/>
          <p:nvPr/>
        </p:nvSpPr>
        <p:spPr>
          <a:xfrm>
            <a:off x="1259999" y="6588000"/>
            <a:ext cx="9648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[A] 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  <a:hlinkClick r:id="rId3"/>
              </a:rPr>
              <a:t>https://github.com/198808xc/Pangu-Weather</a:t>
            </a:r>
            <a:endParaRPr lang="en-US" altLang="zh-CN" sz="1600" dirty="0">
              <a:solidFill>
                <a:srgbClr val="1D1D1A"/>
              </a:solidFill>
              <a:latin typeface="Candara" panose="020E0502030303020204" pitchFamily="34" charset="0"/>
              <a:ea typeface="华文中宋" panose="02010600040101010101" pitchFamily="2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*</a:t>
            </a:r>
            <a:r>
              <a:rPr lang="zh-CN" altLang="en-US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原版训练了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4</a:t>
            </a:r>
            <a:r>
              <a:rPr lang="zh-CN" altLang="en-US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个不同时效模型，而轻量级版本只需训练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1</a:t>
            </a:r>
            <a:r>
              <a:rPr lang="zh-CN" altLang="en-US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个</a:t>
            </a:r>
            <a:r>
              <a:rPr lang="en-US" altLang="zh-CN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24</a:t>
            </a:r>
            <a:r>
              <a:rPr lang="zh-CN" altLang="en-US" sz="1600" dirty="0">
                <a:solidFill>
                  <a:srgbClr val="1D1D1A"/>
                </a:solidFill>
                <a:latin typeface="Candara" panose="020E0502030303020204" pitchFamily="34" charset="0"/>
                <a:ea typeface="华文中宋" panose="02010600040101010101" pitchFamily="2" charset="-122"/>
              </a:rPr>
              <a:t>小时模型。</a:t>
            </a:r>
            <a:endParaRPr lang="en-US" altLang="zh-CN" sz="1600" dirty="0">
              <a:solidFill>
                <a:srgbClr val="1D1D1A"/>
              </a:solidFill>
              <a:latin typeface="Candara" panose="020E0502030303020204" pitchFamily="34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CBB30C39-F3A9-40D8-943A-C99707E00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0838697"/>
                  </p:ext>
                </p:extLst>
              </p:nvPr>
            </p:nvGraphicFramePr>
            <p:xfrm>
              <a:off x="467999" y="3600000"/>
              <a:ext cx="11232015" cy="2225040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1829301">
                      <a:extLst>
                        <a:ext uri="{9D8B030D-6E8A-4147-A177-3AD203B41FA5}">
                          <a16:colId xmlns:a16="http://schemas.microsoft.com/office/drawing/2014/main" val="1699046617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2107081845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3384752801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3226106681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2815510382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3307819476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2934406372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4288086738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2254479575"/>
                        </a:ext>
                      </a:extLst>
                    </a:gridCol>
                    <a:gridCol w="645806">
                      <a:extLst>
                        <a:ext uri="{9D8B030D-6E8A-4147-A177-3AD203B41FA5}">
                          <a16:colId xmlns:a16="http://schemas.microsoft.com/office/drawing/2014/main" val="3798078835"/>
                        </a:ext>
                      </a:extLst>
                    </a:gridCol>
                    <a:gridCol w="1077424">
                      <a:extLst>
                        <a:ext uri="{9D8B030D-6E8A-4147-A177-3AD203B41FA5}">
                          <a16:colId xmlns:a16="http://schemas.microsoft.com/office/drawing/2014/main" val="1561746496"/>
                        </a:ext>
                      </a:extLst>
                    </a:gridCol>
                    <a:gridCol w="647263">
                      <a:extLst>
                        <a:ext uri="{9D8B030D-6E8A-4147-A177-3AD203B41FA5}">
                          <a16:colId xmlns:a16="http://schemas.microsoft.com/office/drawing/2014/main" val="2293912101"/>
                        </a:ext>
                      </a:extLst>
                    </a:gridCol>
                    <a:gridCol w="1309309">
                      <a:extLst>
                        <a:ext uri="{9D8B030D-6E8A-4147-A177-3AD203B41FA5}">
                          <a16:colId xmlns:a16="http://schemas.microsoft.com/office/drawing/2014/main" val="995103360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模型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RMSE, Z500</a:t>
                          </a:r>
                          <a:endParaRPr lang="zh-CN" altLang="en-US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>
                            <a:alpha val="20000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RMSE, T850</a:t>
                          </a:r>
                          <a:endParaRPr lang="zh-CN" altLang="en-US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>
                            <a:alpha val="20000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RMSE, T2M</a:t>
                          </a:r>
                          <a:endParaRPr lang="zh-CN" altLang="en-US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>
                            <a:alpha val="20000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RMSE, U10</a:t>
                          </a:r>
                          <a:endParaRPr lang="zh-CN" altLang="en-US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>
                            <a:alpha val="20000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年份数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Patch</a:t>
                          </a:r>
                        </a:p>
                        <a:p>
                          <a:pPr algn="ctr"/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大小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训练代数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GPU-</a:t>
                          </a:r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天</a:t>
                          </a:r>
                          <a:endParaRPr lang="en-US" altLang="zh-CN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  <a:p>
                          <a:pPr algn="ctr"/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卡数</a:t>
                          </a:r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x</a:t>
                          </a:r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天数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01088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3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5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3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5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3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5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3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5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17702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Operational IFS</a:t>
                          </a:r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152.8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333.7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1.37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2.06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1.34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1.75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1.94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2.90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baseline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/</a:t>
                          </a:r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baseline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/</a:t>
                          </a:r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baseline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/</a:t>
                          </a:r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baseline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/</a:t>
                          </a:r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730522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Pangu-Weather</a:t>
                          </a:r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134</m:t>
                                </m:r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296.7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1.14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1.79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1.53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1.61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2.53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×4×4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192</m:t>
                              </m:r>
                              <m:r>
                                <a:rPr lang="en-US" altLang="zh-CN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×16</m:t>
                              </m:r>
                            </m:oMath>
                          </a14:m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*</a:t>
                          </a:r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29594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Pangu-Weather-L1</a:t>
                          </a:r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163</m:t>
                                </m:r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338</m:t>
                                </m:r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1.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29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1.96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.16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1.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1.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2.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187798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187798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×8×8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187798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187798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05793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1187798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Pangu-Weather-L2</a:t>
                          </a:r>
                          <a:endParaRPr lang="zh-CN" altLang="en-US" sz="1600" b="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177</m:t>
                                </m:r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357</m:t>
                                </m:r>
                                <m:r>
                                  <a:rPr lang="en-US" altLang="zh-CN" sz="16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16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1.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2.05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.24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1.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71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1.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2.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84</m:t>
                                </m:r>
                              </m:oMath>
                            </m:oMathPara>
                          </a14:m>
                          <a:endParaRPr lang="zh-CN" altLang="en-US" sz="1600" i="0" dirty="0">
                            <a:solidFill>
                              <a:srgbClr val="C00000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600" b="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2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×8×8</m:t>
                                </m:r>
                              </m:oMath>
                            </m:oMathPara>
                          </a14:m>
                          <a:endParaRPr lang="zh-CN" altLang="en-US" sz="1600" b="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1600" b="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CN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lang="zh-CN" altLang="en-US" sz="1600" b="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20593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CBB30C39-F3A9-40D8-943A-C99707E00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0838697"/>
                  </p:ext>
                </p:extLst>
              </p:nvPr>
            </p:nvGraphicFramePr>
            <p:xfrm>
              <a:off x="467999" y="3600000"/>
              <a:ext cx="11232015" cy="2225040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1829301">
                      <a:extLst>
                        <a:ext uri="{9D8B030D-6E8A-4147-A177-3AD203B41FA5}">
                          <a16:colId xmlns:a16="http://schemas.microsoft.com/office/drawing/2014/main" val="1699046617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2107081845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3384752801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3226106681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2815510382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3307819476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2934406372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4288086738"/>
                        </a:ext>
                      </a:extLst>
                    </a:gridCol>
                    <a:gridCol w="715364">
                      <a:extLst>
                        <a:ext uri="{9D8B030D-6E8A-4147-A177-3AD203B41FA5}">
                          <a16:colId xmlns:a16="http://schemas.microsoft.com/office/drawing/2014/main" val="2254479575"/>
                        </a:ext>
                      </a:extLst>
                    </a:gridCol>
                    <a:gridCol w="645806">
                      <a:extLst>
                        <a:ext uri="{9D8B030D-6E8A-4147-A177-3AD203B41FA5}">
                          <a16:colId xmlns:a16="http://schemas.microsoft.com/office/drawing/2014/main" val="3798078835"/>
                        </a:ext>
                      </a:extLst>
                    </a:gridCol>
                    <a:gridCol w="1077424">
                      <a:extLst>
                        <a:ext uri="{9D8B030D-6E8A-4147-A177-3AD203B41FA5}">
                          <a16:colId xmlns:a16="http://schemas.microsoft.com/office/drawing/2014/main" val="1561746496"/>
                        </a:ext>
                      </a:extLst>
                    </a:gridCol>
                    <a:gridCol w="647263">
                      <a:extLst>
                        <a:ext uri="{9D8B030D-6E8A-4147-A177-3AD203B41FA5}">
                          <a16:colId xmlns:a16="http://schemas.microsoft.com/office/drawing/2014/main" val="2293912101"/>
                        </a:ext>
                      </a:extLst>
                    </a:gridCol>
                    <a:gridCol w="1309309">
                      <a:extLst>
                        <a:ext uri="{9D8B030D-6E8A-4147-A177-3AD203B41FA5}">
                          <a16:colId xmlns:a16="http://schemas.microsoft.com/office/drawing/2014/main" val="995103360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模型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RMSE, Z500</a:t>
                          </a:r>
                          <a:endParaRPr lang="zh-CN" altLang="en-US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>
                            <a:alpha val="20000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RMSE, T850</a:t>
                          </a:r>
                          <a:endParaRPr lang="zh-CN" altLang="en-US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>
                            <a:alpha val="20000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RMSE, T2M</a:t>
                          </a:r>
                          <a:endParaRPr lang="zh-CN" altLang="en-US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>
                            <a:alpha val="20000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RMSE, U10</a:t>
                          </a:r>
                          <a:endParaRPr lang="zh-CN" altLang="en-US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B0F0">
                            <a:alpha val="20000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年份数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Patch</a:t>
                          </a:r>
                        </a:p>
                        <a:p>
                          <a:pPr algn="ctr"/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大小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训练代数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GPU-</a:t>
                          </a:r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天</a:t>
                          </a:r>
                          <a:endParaRPr lang="en-US" altLang="zh-CN" sz="1800" i="0" dirty="0">
                            <a:solidFill>
                              <a:schemeClr val="tx1"/>
                            </a:solidFill>
                            <a:latin typeface="Corbel" panose="020B0503020204020204" pitchFamily="34" charset="0"/>
                          </a:endParaRPr>
                        </a:p>
                        <a:p>
                          <a:pPr algn="ctr"/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卡数</a:t>
                          </a:r>
                          <a:r>
                            <a:rPr lang="en-US" altLang="zh-CN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x</a:t>
                          </a:r>
                          <a:r>
                            <a:rPr lang="zh-CN" altLang="en-US" sz="1800" i="0" dirty="0">
                              <a:solidFill>
                                <a:schemeClr val="tx1"/>
                              </a:solidFill>
                              <a:latin typeface="Corbel" panose="020B0503020204020204" pitchFamily="34" charset="0"/>
                            </a:rPr>
                            <a:t>天数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01088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3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5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3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5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3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5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3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5</a:t>
                          </a:r>
                          <a:r>
                            <a:rPr lang="zh-CN" altLang="en-US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天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EFFC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17702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Operational IFS</a:t>
                          </a:r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55085" t="-208197" r="-1210169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8120" t="-208197" r="-1120513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54237" t="-208197" r="-1011017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8974" t="-208197" r="-919658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53390" t="-208197" r="-811864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59829" t="-208197" r="-718803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59829" t="-208197" r="-618803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51695" t="-208197" r="-513559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baseline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/</a:t>
                          </a:r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baseline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/</a:t>
                          </a:r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baseline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/</a:t>
                          </a:r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i="0" baseline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/</a:t>
                          </a:r>
                          <a:endParaRPr lang="zh-CN" altLang="en-US" sz="1600" i="0" baseline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730522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Pangu-Weather</a:t>
                          </a:r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55085" t="-308197" r="-121016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8120" t="-308197" r="-1120513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54237" t="-308197" r="-1011017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8974" t="-308197" r="-919658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53390" t="-308197" r="-811864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59829" t="-308197" r="-718803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59829" t="-308197" r="-618803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51695" t="-308197" r="-513559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70755" t="-308197" r="-471698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61017" t="-308197" r="-182486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37736" t="-308197" r="-204717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58140" t="-308197" r="-930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9594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Pangu-Weather-L1</a:t>
                          </a:r>
                          <a:endParaRPr lang="zh-CN" altLang="en-US" sz="160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55085" t="-408197" r="-121016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8120" t="-408197" r="-1120513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54237" t="-408197" r="-1011017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8974" t="-408197" r="-919658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53390" t="-408197" r="-811864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59829" t="-408197" r="-718803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59829" t="-408197" r="-618803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51695" t="-408197" r="-51355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70755" t="-408197" r="-471698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61017" t="-408197" r="-182486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37736" t="-408197" r="-204717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58140" t="-408197" r="-930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5793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1187798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i="0" dirty="0">
                              <a:solidFill>
                                <a:schemeClr val="tx1"/>
                              </a:solidFill>
                              <a:latin typeface="Candara" panose="020E0502030303020204" pitchFamily="34" charset="0"/>
                            </a:rPr>
                            <a:t>Pangu-Weather-L2</a:t>
                          </a:r>
                          <a:endParaRPr lang="zh-CN" altLang="en-US" sz="1600" b="0" i="0" dirty="0">
                            <a:solidFill>
                              <a:schemeClr val="tx1"/>
                            </a:solidFill>
                            <a:latin typeface="Candara" panose="020E0502030303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55085" t="-508197" r="-121016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8120" t="-508197" r="-1120513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54237" t="-508197" r="-1011017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8974" t="-508197" r="-919658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53390" t="-508197" r="-811864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59829" t="-508197" r="-718803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59829" t="-508197" r="-618803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51695" t="-508197" r="-51355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70755" t="-508197" r="-471698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61017" t="-508197" r="-182486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37736" t="-508197" r="-204717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58140" t="-508197" r="-930" b="-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05933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652055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68000" y="180000"/>
            <a:ext cx="10368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 dirty="0">
                <a:solidFill>
                  <a:schemeClr val="tx1"/>
                </a:solidFill>
                <a:latin typeface="Corbel" panose="020B0503020204020204" pitchFamily="34" charset="0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9" name="矩形 8"/>
          <p:cNvSpPr/>
          <p:nvPr/>
        </p:nvSpPr>
        <p:spPr>
          <a:xfrm>
            <a:off x="468000" y="1080000"/>
            <a:ext cx="11232000" cy="51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Candara" panose="020E0502030303020204" pitchFamily="34" charset="0"/>
                <a:ea typeface="微软雅黑" panose="020B0503020204020204" pitchFamily="34" charset="-122"/>
              </a:rPr>
              <a:t>欢迎提问</a:t>
            </a:r>
            <a:endParaRPr lang="en-US" altLang="zh-CN" sz="2800" b="1" dirty="0">
              <a:solidFill>
                <a:schemeClr val="tx1"/>
              </a:solidFill>
              <a:latin typeface="Century Schoolbook" panose="02040604050505020304" pitchFamily="18" charset="0"/>
              <a:ea typeface="Gadugi" panose="020B0502040204020203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B297A6-B4F0-43D9-9DF2-2E17333AC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00" y="1728000"/>
            <a:ext cx="4320000" cy="43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0" y="1728000"/>
            <a:ext cx="4320000" cy="432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3CE4DD9-7116-4766-9E93-2835C29ED105}"/>
              </a:ext>
            </a:extLst>
          </p:cNvPr>
          <p:cNvSpPr/>
          <p:nvPr/>
        </p:nvSpPr>
        <p:spPr>
          <a:xfrm>
            <a:off x="1440000" y="6120000"/>
            <a:ext cx="432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en-US" altLang="zh-CN" sz="2400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《</a:t>
            </a:r>
            <a:r>
              <a:rPr lang="zh-CN" altLang="en-US" sz="2400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自然</a:t>
            </a:r>
            <a:r>
              <a:rPr lang="en-US" altLang="zh-CN" sz="2400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》</a:t>
            </a:r>
            <a:r>
              <a:rPr lang="zh-CN" altLang="en-US" sz="2400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正刊论文</a:t>
            </a:r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3A20AE-4F8B-4CD4-AF34-35B75BCB6451}"/>
              </a:ext>
            </a:extLst>
          </p:cNvPr>
          <p:cNvSpPr/>
          <p:nvPr/>
        </p:nvSpPr>
        <p:spPr>
          <a:xfrm>
            <a:off x="6480000" y="6120000"/>
            <a:ext cx="43200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lvl="0" algn="ctr"/>
            <a:r>
              <a:rPr lang="zh-CN" altLang="en-US" sz="2400" dirty="0">
                <a:solidFill>
                  <a:schemeClr val="tx1"/>
                </a:solidFill>
                <a:latin typeface="Georgia" panose="02040502050405020303" pitchFamily="18" charset="0"/>
                <a:ea typeface="Gadugi" panose="020B0502040204020203" pitchFamily="34" charset="0"/>
              </a:rPr>
              <a:t>开源代码和模型</a:t>
            </a:r>
            <a:endParaRPr lang="zh-CN" altLang="en-US" sz="2400" dirty="0">
              <a:solidFill>
                <a:schemeClr val="tx1"/>
              </a:solidFill>
              <a:latin typeface="Georgia" panose="02040502050405020303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6918490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B4542FC2-A7B2-4ED3-BB20-F6750F3E246A}" vid="{14E5A528-164A-4F9B-B3A5-57862E2D7804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B4542FC2-A7B2-4ED3-BB20-F6750F3E246A}" vid="{36BB4717-3B84-4375-8991-C1B436E01B94}"/>
    </a:ext>
  </a:extLst>
</a:theme>
</file>

<file path=ppt/theme/theme3.xml><?xml version="1.0" encoding="utf-8"?>
<a:theme xmlns:a="http://schemas.openxmlformats.org/drawingml/2006/main" name="4_Chart page">
  <a:themeElements>
    <a:clrScheme name="自定义 2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0070C0"/>
      </a:hlink>
      <a:folHlink>
        <a:srgbClr val="0070C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B4542FC2-A7B2-4ED3-BB20-F6750F3E246A}" vid="{200B2CC3-038E-4B68-ADA0-F89367E15FF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70858</TotalTime>
  <Words>4775</Words>
  <Application>Microsoft Office PowerPoint</Application>
  <PresentationFormat>自定义</PresentationFormat>
  <Paragraphs>655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56" baseType="lpstr">
      <vt:lpstr>Microsoft YaHei</vt:lpstr>
      <vt:lpstr>Microsoft YaHei</vt:lpstr>
      <vt:lpstr>Arial</vt:lpstr>
      <vt:lpstr>Book Antiqua</vt:lpstr>
      <vt:lpstr>Calibri</vt:lpstr>
      <vt:lpstr>Calisto MT</vt:lpstr>
      <vt:lpstr>Cambria Math</vt:lpstr>
      <vt:lpstr>Candara</vt:lpstr>
      <vt:lpstr>Century Schoolbook</vt:lpstr>
      <vt:lpstr>Corbel</vt:lpstr>
      <vt:lpstr>Georgia</vt:lpstr>
      <vt:lpstr>1_Title Slide</vt:lpstr>
      <vt:lpstr>Chart page</vt:lpstr>
      <vt:lpstr>4_Chart page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Jiangtao (Jenny, Professional Service)</dc:creator>
  <cp:lastModifiedBy>陈 晨</cp:lastModifiedBy>
  <cp:revision>1966</cp:revision>
  <dcterms:created xsi:type="dcterms:W3CDTF">2019-04-03T03:32:25Z</dcterms:created>
  <dcterms:modified xsi:type="dcterms:W3CDTF">2024-05-20T07:06:06Z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(3)sLZMhrT6AI0dtR6F7oE1bUnOF0HN79NqLSu1IhiA2LejqvDpimCrF9vKlHh3cTVg3AGi8R99
jElMuYfFgB6+kUW6UHKrEfbXcu7eRTh8T0iQ+tu4SaU+HrQsl5PVnhDQOjST0/Fb+ImWPTKt
Rbc/84RI6z0UuwEovwVpGP/7k8NYSk14WnW9gilWrEs2kAiYkFw6OGVjvGDUtXsfd/YR5oOs
byjqs+GLsHK77AzLC1</vt:lpwstr>
  </property>
  <property fmtid="{D5CDD505-2E9C-101B-9397-08002B2CF9AE}" pid="3" name="_2015_ms_pID_7253431">
    <vt:lpwstr>uUGoAJfgkwXcyMRkCyNMEh0XCJ33OomfOngnTd9EKunJJog6rRq5/L
6DjCrImi37GyjXK995bhCdf8TEenhwWHWusi5WfuYbyouQ9Wwv5g+glepX1UFR/fotIS+1/j
0ZvgWTBjyEoDpyla4HFiEBSefwdo0x7QzWAK8nfxgb/xhhXA3+wX2wX8jxDh/qvj0X7RIzml
evgxnyUE/y4qW2xDtFOjO80ny+6nefc+jojD</vt:lpwstr>
  </property>
  <property fmtid="{D5CDD505-2E9C-101B-9397-08002B2CF9AE}" pid="4" name="_2015_ms_pID_7253432">
    <vt:lpwstr>Lm+vqn7bswZzdm3VB3jkeMc=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1576735078</vt:lpwstr>
  </property>
</Properties>
</file>